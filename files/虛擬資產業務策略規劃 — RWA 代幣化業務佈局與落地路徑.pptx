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embeddedFontLst>
    <p:embeddedFont>
      <p:font typeface="Liter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F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F2E"/>
                </a:solidFill>
                <a:latin typeface="Arial"/>
              </a:rPr>
              <a:t>RWA 市場規模預測 by 機構 (2030)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預測規模 (兆美元)</c:v>
                </c:pt>
              </c:strCache>
            </c:strRef>
          </c:tx>
          <c:spPr>
            <a:solidFill>
              <a:srgbClr val="C8A9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McKinsey</c:v>
                  </c:pt>
                  <c:pt idx="1">
                    <c:v>Citi GPS</c:v>
                  </c:pt>
                  <c:pt idx="2">
                    <c:v>Roland Berger</c:v>
                  </c:pt>
                  <c:pt idx="3">
                    <c:v>BCG+ADDX</c:v>
                  </c:pt>
                  <c:pt idx="4">
                    <c:v>Ripple+BCG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10.9</c:v>
                </c:pt>
                <c:pt idx="3">
                  <c:v>16</c:v>
                </c:pt>
                <c:pt idx="4">
                  <c:v>18.9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2C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D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F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F2E"/>
                </a:solidFill>
                <a:latin typeface="Arial"/>
              </a:rPr>
              <a:t>RWA 資產類別分布 (2025H1)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1F2E"/>
              </a:solidFill>
              <a:effectLst/>
            </c:spPr>
          </c:dPt>
          <c:dPt>
            <c:idx val="1"/>
            <c:bubble3D val="0"/>
            <c:spPr>
              <a:solidFill>
                <a:srgbClr val="C8A96E"/>
              </a:solidFill>
              <a:effectLst/>
            </c:spPr>
          </c:dPt>
          <c:dPt>
            <c:idx val="2"/>
            <c:bubble3D val="0"/>
            <c:spPr>
              <a:solidFill>
                <a:srgbClr val="8A8D93"/>
              </a:solidFill>
              <a:effectLst/>
            </c:spPr>
          </c:dPt>
          <c:dPt>
            <c:idx val="3"/>
            <c:bubble3D val="0"/>
            <c:spPr>
              <a:solidFill>
                <a:srgbClr val="D5D2C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3F0E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3F0E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3F0E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3F0E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私募信貸</c:v>
                </c:pt>
                <c:pt idx="1">
                  <c:v>美國國債</c:v>
                </c:pt>
                <c:pt idx="2">
                  <c:v>房地產</c:v>
                </c:pt>
                <c:pt idx="3">
                  <c:v>大宗商品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58</c:v>
                </c:pt>
                <c:pt idx="1">
                  <c:v>34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8A8D9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55gi3ifpueyq/mnt/agents/output/rwa-strategy/images/5_Abstract_Blockchain_Background_Over.png">    </p:cNvPr>
          <p:cNvPicPr>
            <a:picLocks noChangeAspect="1"/>
          </p:cNvPicPr>
          <p:nvPr/>
        </p:nvPicPr>
        <p:blipFill>
          <a:blip r:embed="rId1"/>
          <a:srcRect l="0" r="0" t="3594" b="359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2151F">
                  <a:alpha val="94000"/>
                </a:srgbClr>
              </a:gs>
              <a:gs pos="55000">
                <a:srgbClr val="12151F">
                  <a:alpha val="82000"/>
                </a:srgbClr>
              </a:gs>
              <a:gs pos="100000">
                <a:srgbClr val="12151F">
                  <a:alpha val="38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3302000"/>
            <a:ext cx="635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3556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600" spc="100" kern="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虛擬資產業務策略規劃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62000" y="5334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RWA 代幣化業務佈局與落地路徑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2000" y="5969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825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CONFIDENTIAL — 僅供內部決策參考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400" kern="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目錄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14732000" cy="12700"/>
          </a:xfrm>
          <a:prstGeom prst="rect">
            <a:avLst/>
          </a:prstGeom>
          <a:solidFill>
            <a:srgbClr val="D5D2C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921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905000" y="292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全球 RWA 市場趨勢與機遇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05000" y="34036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從數十億到數十兆美元的市場裂變，機構級採用的臨界點已至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57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905000" y="4572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海外領先者案例分析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05000" y="50546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對標 SBI、JP Morgan 的戰略路徑與四大共同啟示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2921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525000" y="292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台灣法規政策與市場環境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525000" y="34036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VASP 專法、RWA 代幣化小組與亞太監管競賽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457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525000" y="4572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策略建議與落地規劃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525000" y="50546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三階段路徑：從託管基石到 RWA 生態系統建構者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350000"/>
            <a:ext cx="14732000" cy="12700"/>
          </a:xfrm>
          <a:prstGeom prst="rect">
            <a:avLst/>
          </a:prstGeom>
          <a:solidFill>
            <a:srgbClr val="D5D2CD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66040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本報告基於公開資料與專業研究編制，供董事會策略決策參考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55gi3ifpueyq/mnt/agents/output/rwa-strategy/images/7_Global_Financial_Data_Analysis_on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2151F">
                  <a:alpha val="91000"/>
                </a:srgbClr>
              </a:gs>
              <a:gs pos="60000">
                <a:srgbClr val="12151F">
                  <a:alpha val="75000"/>
                </a:srgbClr>
              </a:gs>
              <a:gs pos="100000">
                <a:srgbClr val="12151F">
                  <a:alpha val="56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286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3048000" y="4318000"/>
            <a:ext cx="1016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全球 RWA 市場趨勢與機遇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318000" y="514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從數十億到數十兆美元的市場裂變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47000" y="5778500"/>
            <a:ext cx="762000" cy="38100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全球 RWA 市場規模 2025 年達 $24B，預計 2030 年突破 $2T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3302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5200" spc="-100" kern="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$24B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年 RWA 代幣化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市場總規模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8000" y="1651000"/>
            <a:ext cx="3302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5200" spc="-100" kern="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266%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18000" y="2540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年 YoY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增長率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74000" y="1651000"/>
            <a:ext cx="3302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5200" spc="-100" kern="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$2T+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874000" y="2540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2030 年市場預測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(McKinsey 保守估計)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0" y="1651000"/>
            <a:ext cx="4064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5200" spc="-100" kern="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53.8%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11430000" y="2540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亞太地區 CAGR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全球最高增速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3365500"/>
            <a:ext cx="14732000" cy="12700"/>
          </a:xfrm>
          <a:prstGeom prst="rect">
            <a:avLst/>
          </a:prstGeom>
          <a:solidFill>
            <a:srgbClr val="D5D2CD"/>
          </a:solidFill>
          <a:ln/>
        </p:spPr>
      </p:sp>
      <p:graphicFrame>
        <p:nvGraphicFramePr>
          <p:cNvPr id="13" name="Chart 0" descr=""/>
          <p:cNvGraphicFramePr/>
          <p:nvPr/>
        </p:nvGraphicFramePr>
        <p:xfrm>
          <a:off x="762000" y="3556000"/>
          <a:ext cx="7620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8890000" y="3619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關鍵驅動力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8900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5785" y="3542"/>
                </a:moveTo>
                <a:cubicBezTo>
                  <a:pt x="173077" y="-1181"/>
                  <a:pt x="182523" y="-1181"/>
                  <a:pt x="189815" y="3542"/>
                </a:cubicBezTo>
                <a:lnTo>
                  <a:pt x="345390" y="103555"/>
                </a:lnTo>
                <a:cubicBezTo>
                  <a:pt x="353655" y="108903"/>
                  <a:pt x="357475" y="119043"/>
                  <a:pt x="354697" y="128488"/>
                </a:cubicBezTo>
                <a:cubicBezTo>
                  <a:pt x="351919" y="137934"/>
                  <a:pt x="343237" y="144463"/>
                  <a:pt x="333375" y="144463"/>
                </a:cubicBezTo>
                <a:lnTo>
                  <a:pt x="311150" y="144463"/>
                </a:lnTo>
                <a:lnTo>
                  <a:pt x="311150" y="288925"/>
                </a:lnTo>
                <a:lnTo>
                  <a:pt x="346710" y="315595"/>
                </a:lnTo>
                <a:cubicBezTo>
                  <a:pt x="352336" y="319762"/>
                  <a:pt x="355600" y="326360"/>
                  <a:pt x="355600" y="333375"/>
                </a:cubicBezTo>
                <a:cubicBezTo>
                  <a:pt x="355600" y="345668"/>
                  <a:pt x="345668" y="355600"/>
                  <a:pt x="333375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cubicBezTo>
                  <a:pt x="0" y="326360"/>
                  <a:pt x="3264" y="319762"/>
                  <a:pt x="8890" y="315595"/>
                </a:cubicBezTo>
                <a:lnTo>
                  <a:pt x="44450" y="288925"/>
                </a:lnTo>
                <a:lnTo>
                  <a:pt x="44450" y="288925"/>
                </a:lnTo>
                <a:lnTo>
                  <a:pt x="44450" y="144463"/>
                </a:lnTo>
                <a:lnTo>
                  <a:pt x="22225" y="144463"/>
                </a:lnTo>
                <a:cubicBezTo>
                  <a:pt x="12363" y="144463"/>
                  <a:pt x="3681" y="137934"/>
                  <a:pt x="903" y="128488"/>
                </a:cubicBezTo>
                <a:cubicBezTo>
                  <a:pt x="-1875" y="119043"/>
                  <a:pt x="1945" y="108833"/>
                  <a:pt x="10210" y="103555"/>
                </a:cubicBezTo>
                <a:lnTo>
                  <a:pt x="165785" y="3542"/>
                </a:lnTo>
                <a:close/>
                <a:moveTo>
                  <a:pt x="233363" y="144463"/>
                </a:moveTo>
                <a:lnTo>
                  <a:pt x="233363" y="288925"/>
                </a:lnTo>
                <a:lnTo>
                  <a:pt x="277813" y="288925"/>
                </a:lnTo>
                <a:lnTo>
                  <a:pt x="277813" y="144463"/>
                </a:lnTo>
                <a:lnTo>
                  <a:pt x="233363" y="144463"/>
                </a:lnTo>
                <a:close/>
                <a:moveTo>
                  <a:pt x="155575" y="288925"/>
                </a:moveTo>
                <a:lnTo>
                  <a:pt x="200025" y="288925"/>
                </a:lnTo>
                <a:lnTo>
                  <a:pt x="200025" y="144463"/>
                </a:lnTo>
                <a:lnTo>
                  <a:pt x="155575" y="144463"/>
                </a:lnTo>
                <a:lnTo>
                  <a:pt x="155575" y="288925"/>
                </a:lnTo>
                <a:close/>
                <a:moveTo>
                  <a:pt x="77788" y="144463"/>
                </a:moveTo>
                <a:lnTo>
                  <a:pt x="77788" y="288925"/>
                </a:lnTo>
                <a:lnTo>
                  <a:pt x="122238" y="288925"/>
                </a:lnTo>
                <a:lnTo>
                  <a:pt x="122238" y="144463"/>
                </a:lnTo>
                <a:lnTo>
                  <a:pt x="77788" y="144463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6" name="Text 13"/>
          <p:cNvSpPr/>
          <p:nvPr/>
        </p:nvSpPr>
        <p:spPr>
          <a:xfrm>
            <a:off x="9398000" y="4127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監管明朗化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：美國 GENIUS Act、歐盟 MiCA、亞太 VASP 框架相繼出台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890000" y="508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8" name="Text 15"/>
          <p:cNvSpPr/>
          <p:nvPr/>
        </p:nvSpPr>
        <p:spPr>
          <a:xfrm>
            <a:off x="9398000" y="5016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機構資金重配置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：BlackRock、JPMorgan、Apollo 從試驗轉向規模化部署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900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8983" y="66675"/>
                </a:moveTo>
                <a:cubicBezTo>
                  <a:pt x="248735" y="66675"/>
                  <a:pt x="238795" y="69800"/>
                  <a:pt x="230090" y="75496"/>
                </a:cubicBezTo>
                <a:cubicBezTo>
                  <a:pt x="220336" y="64383"/>
                  <a:pt x="208977" y="55076"/>
                  <a:pt x="196444" y="48062"/>
                </a:cubicBezTo>
                <a:cubicBezTo>
                  <a:pt x="213854" y="31393"/>
                  <a:pt x="236017" y="22225"/>
                  <a:pt x="258983" y="22225"/>
                </a:cubicBezTo>
                <a:cubicBezTo>
                  <a:pt x="312323" y="22225"/>
                  <a:pt x="355600" y="70842"/>
                  <a:pt x="355600" y="130919"/>
                </a:cubicBezTo>
                <a:cubicBezTo>
                  <a:pt x="355600" y="159742"/>
                  <a:pt x="345414" y="187385"/>
                  <a:pt x="327325" y="207734"/>
                </a:cubicBezTo>
                <a:lnTo>
                  <a:pt x="283430" y="257115"/>
                </a:lnTo>
                <a:cubicBezTo>
                  <a:pt x="265342" y="277465"/>
                  <a:pt x="240771" y="288925"/>
                  <a:pt x="215150" y="288925"/>
                </a:cubicBezTo>
                <a:cubicBezTo>
                  <a:pt x="161810" y="288925"/>
                  <a:pt x="118533" y="240308"/>
                  <a:pt x="118533" y="180231"/>
                </a:cubicBezTo>
                <a:cubicBezTo>
                  <a:pt x="118533" y="179189"/>
                  <a:pt x="118533" y="178147"/>
                  <a:pt x="118595" y="177105"/>
                </a:cubicBezTo>
                <a:cubicBezTo>
                  <a:pt x="118904" y="164812"/>
                  <a:pt x="127979" y="155158"/>
                  <a:pt x="138906" y="155506"/>
                </a:cubicBezTo>
                <a:cubicBezTo>
                  <a:pt x="149834" y="155853"/>
                  <a:pt x="158415" y="166062"/>
                  <a:pt x="158106" y="178356"/>
                </a:cubicBezTo>
                <a:cubicBezTo>
                  <a:pt x="158106" y="178981"/>
                  <a:pt x="158106" y="179606"/>
                  <a:pt x="158106" y="180161"/>
                </a:cubicBezTo>
                <a:cubicBezTo>
                  <a:pt x="158106" y="215652"/>
                  <a:pt x="183665" y="244406"/>
                  <a:pt x="215212" y="244406"/>
                </a:cubicBezTo>
                <a:cubicBezTo>
                  <a:pt x="230337" y="244406"/>
                  <a:pt x="244845" y="237669"/>
                  <a:pt x="255588" y="225584"/>
                </a:cubicBezTo>
                <a:lnTo>
                  <a:pt x="299482" y="176203"/>
                </a:lnTo>
                <a:cubicBezTo>
                  <a:pt x="310162" y="164187"/>
                  <a:pt x="316212" y="147796"/>
                  <a:pt x="316212" y="130780"/>
                </a:cubicBezTo>
                <a:cubicBezTo>
                  <a:pt x="316212" y="95290"/>
                  <a:pt x="290654" y="66536"/>
                  <a:pt x="259106" y="66536"/>
                </a:cubicBezTo>
                <a:close/>
                <a:moveTo>
                  <a:pt x="169898" y="120362"/>
                </a:moveTo>
                <a:cubicBezTo>
                  <a:pt x="168725" y="119807"/>
                  <a:pt x="167552" y="119043"/>
                  <a:pt x="166502" y="118209"/>
                </a:cubicBezTo>
                <a:cubicBezTo>
                  <a:pt x="158724" y="113695"/>
                  <a:pt x="149834" y="111125"/>
                  <a:pt x="140511" y="111125"/>
                </a:cubicBezTo>
                <a:cubicBezTo>
                  <a:pt x="125386" y="111125"/>
                  <a:pt x="110878" y="117862"/>
                  <a:pt x="100136" y="129947"/>
                </a:cubicBezTo>
                <a:lnTo>
                  <a:pt x="56242" y="179328"/>
                </a:lnTo>
                <a:cubicBezTo>
                  <a:pt x="45561" y="191343"/>
                  <a:pt x="39511" y="207734"/>
                  <a:pt x="39511" y="224750"/>
                </a:cubicBezTo>
                <a:cubicBezTo>
                  <a:pt x="39511" y="260241"/>
                  <a:pt x="65070" y="288994"/>
                  <a:pt x="96617" y="288994"/>
                </a:cubicBezTo>
                <a:cubicBezTo>
                  <a:pt x="106803" y="288994"/>
                  <a:pt x="116743" y="285939"/>
                  <a:pt x="125448" y="280243"/>
                </a:cubicBezTo>
                <a:cubicBezTo>
                  <a:pt x="135202" y="291356"/>
                  <a:pt x="146562" y="300663"/>
                  <a:pt x="159156" y="307677"/>
                </a:cubicBezTo>
                <a:cubicBezTo>
                  <a:pt x="141746" y="324277"/>
                  <a:pt x="119645" y="333514"/>
                  <a:pt x="96617" y="333514"/>
                </a:cubicBezTo>
                <a:cubicBezTo>
                  <a:pt x="43277" y="333514"/>
                  <a:pt x="0" y="284897"/>
                  <a:pt x="0" y="224820"/>
                </a:cubicBezTo>
                <a:cubicBezTo>
                  <a:pt x="0" y="195997"/>
                  <a:pt x="10186" y="168354"/>
                  <a:pt x="28275" y="148005"/>
                </a:cubicBezTo>
                <a:lnTo>
                  <a:pt x="72170" y="98623"/>
                </a:lnTo>
                <a:cubicBezTo>
                  <a:pt x="90258" y="78274"/>
                  <a:pt x="114829" y="66814"/>
                  <a:pt x="140450" y="66814"/>
                </a:cubicBezTo>
                <a:cubicBezTo>
                  <a:pt x="193913" y="66814"/>
                  <a:pt x="237067" y="115848"/>
                  <a:pt x="237067" y="175786"/>
                </a:cubicBezTo>
                <a:cubicBezTo>
                  <a:pt x="237067" y="176689"/>
                  <a:pt x="237067" y="177592"/>
                  <a:pt x="237067" y="178495"/>
                </a:cubicBezTo>
                <a:cubicBezTo>
                  <a:pt x="236820" y="190788"/>
                  <a:pt x="227745" y="200442"/>
                  <a:pt x="216817" y="200164"/>
                </a:cubicBezTo>
                <a:cubicBezTo>
                  <a:pt x="205890" y="199886"/>
                  <a:pt x="197309" y="189676"/>
                  <a:pt x="197556" y="177383"/>
                </a:cubicBezTo>
                <a:cubicBezTo>
                  <a:pt x="197556" y="176828"/>
                  <a:pt x="197556" y="176341"/>
                  <a:pt x="197556" y="175786"/>
                </a:cubicBezTo>
                <a:cubicBezTo>
                  <a:pt x="197556" y="152380"/>
                  <a:pt x="186443" y="131822"/>
                  <a:pt x="169898" y="120501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0" name="Text 17"/>
          <p:cNvSpPr/>
          <p:nvPr/>
        </p:nvSpPr>
        <p:spPr>
          <a:xfrm>
            <a:off x="9398000" y="5905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跨鏈互操作性成熟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：ISO 20022 標準、跨鏈橋技術、許可制與公鏈融合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890000" y="685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2" name="Text 19"/>
          <p:cNvSpPr/>
          <p:nvPr/>
        </p:nvSpPr>
        <p:spPr>
          <a:xfrm>
            <a:off x="9398000" y="679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運營效率提升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：結算時間從數天縮至數秒，運營成本降低 30%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RWA.xyz, McKinsey, BCG, Mordor Intelligence, 2025-2026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美國國債與私募信貸主導，機構從試驗轉向規模化部署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62000" y="1587500"/>
          <a:ext cx="5334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04000" y="1587500"/>
            <a:ext cx="8890000" cy="1524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6" name="Shape 3"/>
          <p:cNvSpPr/>
          <p:nvPr/>
        </p:nvSpPr>
        <p:spPr>
          <a:xfrm>
            <a:off x="6921500" y="196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5666" y="-16877"/>
                </a:moveTo>
                <a:cubicBezTo>
                  <a:pt x="242411" y="-24021"/>
                  <a:pt x="235823" y="-28575"/>
                  <a:pt x="228679" y="-28575"/>
                </a:cubicBezTo>
                <a:cubicBezTo>
                  <a:pt x="221536" y="-28575"/>
                  <a:pt x="214948" y="-24021"/>
                  <a:pt x="211693" y="-16877"/>
                </a:cubicBezTo>
                <a:lnTo>
                  <a:pt x="153273" y="111889"/>
                </a:lnTo>
                <a:lnTo>
                  <a:pt x="26353" y="134570"/>
                </a:lnTo>
                <a:cubicBezTo>
                  <a:pt x="19288" y="135821"/>
                  <a:pt x="13414" y="141446"/>
                  <a:pt x="11192" y="149126"/>
                </a:cubicBezTo>
                <a:cubicBezTo>
                  <a:pt x="8969" y="156805"/>
                  <a:pt x="10795" y="165199"/>
                  <a:pt x="15796" y="170914"/>
                </a:cubicBezTo>
                <a:lnTo>
                  <a:pt x="106601" y="273159"/>
                </a:lnTo>
                <a:lnTo>
                  <a:pt x="86598" y="415945"/>
                </a:lnTo>
                <a:cubicBezTo>
                  <a:pt x="85487" y="423892"/>
                  <a:pt x="88424" y="431929"/>
                  <a:pt x="94218" y="436662"/>
                </a:cubicBezTo>
                <a:cubicBezTo>
                  <a:pt x="100013" y="441394"/>
                  <a:pt x="107633" y="442109"/>
                  <a:pt x="114062" y="438448"/>
                </a:cubicBezTo>
                <a:lnTo>
                  <a:pt x="228679" y="372904"/>
                </a:lnTo>
                <a:lnTo>
                  <a:pt x="343218" y="438448"/>
                </a:lnTo>
                <a:cubicBezTo>
                  <a:pt x="349568" y="442109"/>
                  <a:pt x="357267" y="441394"/>
                  <a:pt x="363061" y="436662"/>
                </a:cubicBezTo>
                <a:cubicBezTo>
                  <a:pt x="368856" y="431929"/>
                  <a:pt x="371793" y="423982"/>
                  <a:pt x="370681" y="415945"/>
                </a:cubicBezTo>
                <a:lnTo>
                  <a:pt x="350599" y="273159"/>
                </a:lnTo>
                <a:lnTo>
                  <a:pt x="441404" y="170914"/>
                </a:lnTo>
                <a:cubicBezTo>
                  <a:pt x="446484" y="165199"/>
                  <a:pt x="448231" y="156805"/>
                  <a:pt x="446008" y="149126"/>
                </a:cubicBezTo>
                <a:cubicBezTo>
                  <a:pt x="443786" y="141446"/>
                  <a:pt x="437991" y="135821"/>
                  <a:pt x="430847" y="134570"/>
                </a:cubicBezTo>
                <a:lnTo>
                  <a:pt x="304006" y="111889"/>
                </a:lnTo>
                <a:lnTo>
                  <a:pt x="245666" y="-16877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0" y="1841500"/>
            <a:ext cx="749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BlackRock BUIDL 基金 — 機構採用標竿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0" y="2286000"/>
            <a:ext cx="749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管理資產達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$2.9B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，100% 投資於短期美國政府證券，被 Crypto.com、Deribit 接受為抵押品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04000" y="342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市場關鍵數據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04000" y="3937000"/>
            <a:ext cx="266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539%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604000" y="46355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代幣化國債市場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2024-2025 增長率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52000" y="3937000"/>
            <a:ext cx="266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$9.6B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9652000" y="46355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代幣化美國國債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市場規模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700000" y="3937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2700000" y="4635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運營成本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可降低幅度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04000" y="5461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主要參與機構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604000" y="5969000"/>
            <a:ext cx="889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BlackRock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BUIDL 基金 $2.9B，首個被交易所接受的代幣化國債基金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JPMorgan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Kinexys 平台累計交易量 $3T+，日均 $5B+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Franklin Templeton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代幣化貨幣市場基金先驅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Apollo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ACRED 私募信貸代幣化，與 JPMorgan 合作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RWA.xyz, Binance Research, RedStone/Gauntlet Report, 2025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55gi3ifpueyq/mnt/agents/output/rwa-strategy/images/9_Close_Up_of_Business_Strategy_Meeting.png">    </p:cNvPr>
          <p:cNvPicPr>
            <a:picLocks noChangeAspect="1"/>
          </p:cNvPicPr>
          <p:nvPr/>
        </p:nvPicPr>
        <p:blipFill>
          <a:blip r:embed="rId1"/>
          <a:srcRect l="0" r="0" t="12656" b="1265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2151F">
                  <a:alpha val="91000"/>
                </a:srgbClr>
              </a:gs>
              <a:gs pos="60000">
                <a:srgbClr val="12151F">
                  <a:alpha val="75000"/>
                </a:srgbClr>
              </a:gs>
              <a:gs pos="100000">
                <a:srgbClr val="12151F">
                  <a:alpha val="56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286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3048000" y="4318000"/>
            <a:ext cx="1016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海外領先者案例分析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683000" y="5143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對標 SBI、JP Morgan 的戰略路徑與啟示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47000" y="5778500"/>
            <a:ext cx="762000" cy="38100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SBI 集團：建構日本 STO 生態系統的全方位佈局者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24000" y="1778000"/>
            <a:ext cx="0" cy="5461000"/>
          </a:xfrm>
          <a:prstGeom prst="straightConnector1">
            <a:avLst/>
          </a:prstGeom>
          <a:noFill/>
          <a:ln w="25400">
            <a:solidFill>
              <a:srgbClr val="D5D2CD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22400" y="1778000"/>
            <a:ext cx="203200" cy="20320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6" name="Text 4"/>
          <p:cNvSpPr/>
          <p:nvPr/>
        </p:nvSpPr>
        <p:spPr>
          <a:xfrm>
            <a:off x="698500" y="1752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05000" y="1651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成立日本 STO 協會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，獲 FSA 認證為唯一自律組織 (SRO)，主導監管規則制定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22400" y="2667000"/>
            <a:ext cx="203200" cy="20320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" y="2641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05000" y="2540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完成日本首個 STO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（SBI e-Sports 股權代幣化），直接推動 2021 年金融商品交易法修訂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22400" y="3556000"/>
            <a:ext cx="203200" cy="20320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698500" y="3530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05000" y="3429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成立大阪數位交易所 (ODX)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，三井住友、野村、大和證券參股，打造日本首個 ST 分銷市場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22400" y="4445000"/>
            <a:ext cx="203200" cy="20320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698500" y="4419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05000" y="4318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領導 MAS Project Guardian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跨境代幣化證券框架，促成日新瑞三國監管互認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22400" y="5334000"/>
            <a:ext cx="203200" cy="20320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" y="5308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05000" y="5207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發行 SBI START Bonds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（ST 債券），使用 ibet for Fin 區塊鏈平台，在 START 平台交易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90000" y="1651000"/>
            <a:ext cx="6604000" cy="5588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1" name="Text 19"/>
          <p:cNvSpPr/>
          <p:nvPr/>
        </p:nvSpPr>
        <p:spPr>
          <a:xfrm>
            <a:off x="9271000" y="1905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SBI 戰略啟示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71000" y="254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9747" y="91321"/>
                </a:moveTo>
                <a:lnTo>
                  <a:pt x="79851" y="80189"/>
                </a:lnTo>
                <a:cubicBezTo>
                  <a:pt x="73237" y="72747"/>
                  <a:pt x="73237" y="60662"/>
                  <a:pt x="79851" y="53221"/>
                </a:cubicBezTo>
                <a:lnTo>
                  <a:pt x="140547" y="-15121"/>
                </a:lnTo>
                <a:cubicBezTo>
                  <a:pt x="147161" y="-22562"/>
                  <a:pt x="157903" y="-22562"/>
                  <a:pt x="164518" y="-15121"/>
                </a:cubicBezTo>
                <a:lnTo>
                  <a:pt x="174413" y="-3929"/>
                </a:lnTo>
                <a:cubicBezTo>
                  <a:pt x="181028" y="3512"/>
                  <a:pt x="181028" y="15597"/>
                  <a:pt x="174413" y="23039"/>
                </a:cubicBezTo>
                <a:lnTo>
                  <a:pt x="113718" y="91321"/>
                </a:lnTo>
                <a:cubicBezTo>
                  <a:pt x="107103" y="98762"/>
                  <a:pt x="96361" y="98762"/>
                  <a:pt x="89747" y="91321"/>
                </a:cubicBezTo>
                <a:close/>
                <a:moveTo>
                  <a:pt x="146050" y="126028"/>
                </a:moveTo>
                <a:lnTo>
                  <a:pt x="129434" y="107335"/>
                </a:lnTo>
                <a:lnTo>
                  <a:pt x="188701" y="40660"/>
                </a:lnTo>
                <a:lnTo>
                  <a:pt x="251883" y="111740"/>
                </a:lnTo>
                <a:lnTo>
                  <a:pt x="192617" y="178415"/>
                </a:lnTo>
                <a:lnTo>
                  <a:pt x="176001" y="159722"/>
                </a:lnTo>
                <a:lnTo>
                  <a:pt x="53234" y="297835"/>
                </a:lnTo>
                <a:cubicBezTo>
                  <a:pt x="44979" y="307122"/>
                  <a:pt x="31591" y="307122"/>
                  <a:pt x="23283" y="297835"/>
                </a:cubicBezTo>
                <a:cubicBezTo>
                  <a:pt x="14975" y="288548"/>
                  <a:pt x="15028" y="273487"/>
                  <a:pt x="23283" y="264140"/>
                </a:cubicBezTo>
                <a:lnTo>
                  <a:pt x="146050" y="126028"/>
                </a:lnTo>
                <a:close/>
                <a:moveTo>
                  <a:pt x="206851" y="223004"/>
                </a:moveTo>
                <a:cubicBezTo>
                  <a:pt x="200237" y="215563"/>
                  <a:pt x="200237" y="203478"/>
                  <a:pt x="206851" y="196036"/>
                </a:cubicBezTo>
                <a:lnTo>
                  <a:pt x="267547" y="127754"/>
                </a:lnTo>
                <a:cubicBezTo>
                  <a:pt x="274161" y="120313"/>
                  <a:pt x="284903" y="120313"/>
                  <a:pt x="291518" y="127754"/>
                </a:cubicBezTo>
                <a:lnTo>
                  <a:pt x="301413" y="138886"/>
                </a:lnTo>
                <a:cubicBezTo>
                  <a:pt x="308028" y="146328"/>
                  <a:pt x="308028" y="158413"/>
                  <a:pt x="301413" y="165854"/>
                </a:cubicBezTo>
                <a:lnTo>
                  <a:pt x="240718" y="234196"/>
                </a:lnTo>
                <a:cubicBezTo>
                  <a:pt x="234103" y="241637"/>
                  <a:pt x="223361" y="241637"/>
                  <a:pt x="216747" y="234196"/>
                </a:cubicBezTo>
                <a:lnTo>
                  <a:pt x="206851" y="223064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0" y="2476500"/>
            <a:ext cx="539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監管參與先行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：從規則制定階段即深度介入，而非被動等待法規出台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271000" y="342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543" y="19050"/>
                </a:moveTo>
                <a:cubicBezTo>
                  <a:pt x="19526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9526" y="133350"/>
                  <a:pt x="43543" y="133350"/>
                </a:cubicBezTo>
                <a:lnTo>
                  <a:pt x="261257" y="133350"/>
                </a:lnTo>
                <a:cubicBezTo>
                  <a:pt x="285274" y="133350"/>
                  <a:pt x="304800" y="116265"/>
                  <a:pt x="304800" y="95250"/>
                </a:cubicBezTo>
                <a:lnTo>
                  <a:pt x="304800" y="57150"/>
                </a:lnTo>
                <a:cubicBezTo>
                  <a:pt x="304800" y="36135"/>
                  <a:pt x="285274" y="19050"/>
                  <a:pt x="261257" y="19050"/>
                </a:cubicBezTo>
                <a:lnTo>
                  <a:pt x="43543" y="19050"/>
                </a:lnTo>
                <a:close/>
                <a:moveTo>
                  <a:pt x="190500" y="61912"/>
                </a:moveTo>
                <a:cubicBezTo>
                  <a:pt x="199512" y="61912"/>
                  <a:pt x="206829" y="68315"/>
                  <a:pt x="206829" y="76200"/>
                </a:cubicBezTo>
                <a:cubicBezTo>
                  <a:pt x="206829" y="84085"/>
                  <a:pt x="199512" y="90488"/>
                  <a:pt x="190500" y="90488"/>
                </a:cubicBezTo>
                <a:cubicBezTo>
                  <a:pt x="181488" y="90488"/>
                  <a:pt x="174171" y="84085"/>
                  <a:pt x="174171" y="76200"/>
                </a:cubicBezTo>
                <a:cubicBezTo>
                  <a:pt x="174171" y="68315"/>
                  <a:pt x="181488" y="61912"/>
                  <a:pt x="190500" y="61912"/>
                </a:cubicBezTo>
                <a:close/>
                <a:moveTo>
                  <a:pt x="228600" y="76200"/>
                </a:moveTo>
                <a:cubicBezTo>
                  <a:pt x="228600" y="68315"/>
                  <a:pt x="235917" y="61912"/>
                  <a:pt x="244929" y="61912"/>
                </a:cubicBezTo>
                <a:cubicBezTo>
                  <a:pt x="253941" y="61912"/>
                  <a:pt x="261257" y="68315"/>
                  <a:pt x="261257" y="76200"/>
                </a:cubicBezTo>
                <a:cubicBezTo>
                  <a:pt x="261257" y="84085"/>
                  <a:pt x="253941" y="90488"/>
                  <a:pt x="244929" y="90488"/>
                </a:cubicBezTo>
                <a:cubicBezTo>
                  <a:pt x="235917" y="90488"/>
                  <a:pt x="228600" y="84085"/>
                  <a:pt x="228600" y="76200"/>
                </a:cubicBezTo>
                <a:close/>
                <a:moveTo>
                  <a:pt x="43543" y="171450"/>
                </a:moveTo>
                <a:cubicBezTo>
                  <a:pt x="19526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9526" y="285750"/>
                  <a:pt x="43543" y="285750"/>
                </a:cubicBezTo>
                <a:lnTo>
                  <a:pt x="261257" y="285750"/>
                </a:lnTo>
                <a:cubicBezTo>
                  <a:pt x="285274" y="285750"/>
                  <a:pt x="304800" y="268665"/>
                  <a:pt x="304800" y="247650"/>
                </a:cubicBezTo>
                <a:lnTo>
                  <a:pt x="304800" y="209550"/>
                </a:lnTo>
                <a:cubicBezTo>
                  <a:pt x="304800" y="188535"/>
                  <a:pt x="285274" y="171450"/>
                  <a:pt x="261257" y="171450"/>
                </a:cubicBezTo>
                <a:lnTo>
                  <a:pt x="43543" y="171450"/>
                </a:lnTo>
                <a:close/>
                <a:moveTo>
                  <a:pt x="190500" y="214313"/>
                </a:moveTo>
                <a:cubicBezTo>
                  <a:pt x="199512" y="214313"/>
                  <a:pt x="206829" y="220715"/>
                  <a:pt x="206829" y="228600"/>
                </a:cubicBezTo>
                <a:cubicBezTo>
                  <a:pt x="206829" y="236485"/>
                  <a:pt x="199512" y="242888"/>
                  <a:pt x="190500" y="242888"/>
                </a:cubicBezTo>
                <a:cubicBezTo>
                  <a:pt x="181488" y="242888"/>
                  <a:pt x="174171" y="236485"/>
                  <a:pt x="174171" y="228600"/>
                </a:cubicBezTo>
                <a:cubicBezTo>
                  <a:pt x="174171" y="220715"/>
                  <a:pt x="181488" y="214313"/>
                  <a:pt x="190500" y="214313"/>
                </a:cubicBezTo>
                <a:close/>
                <a:moveTo>
                  <a:pt x="228600" y="228600"/>
                </a:moveTo>
                <a:cubicBezTo>
                  <a:pt x="228600" y="220715"/>
                  <a:pt x="235917" y="214313"/>
                  <a:pt x="244929" y="214313"/>
                </a:cubicBezTo>
                <a:cubicBezTo>
                  <a:pt x="253941" y="214313"/>
                  <a:pt x="261257" y="220715"/>
                  <a:pt x="261257" y="228600"/>
                </a:cubicBezTo>
                <a:cubicBezTo>
                  <a:pt x="261257" y="236485"/>
                  <a:pt x="253941" y="242888"/>
                  <a:pt x="244929" y="242888"/>
                </a:cubicBezTo>
                <a:cubicBezTo>
                  <a:pt x="235917" y="242888"/>
                  <a:pt x="228600" y="236485"/>
                  <a:pt x="228600" y="228600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9715500" y="3365500"/>
            <a:ext cx="539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基礎設施優先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：先建平台（ODX、ibet for Fin），再推產品創新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71000" y="431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2293" y="50721"/>
                </a:moveTo>
                <a:lnTo>
                  <a:pt x="80592" y="127873"/>
                </a:lnTo>
                <a:cubicBezTo>
                  <a:pt x="78158" y="130909"/>
                  <a:pt x="78264" y="135612"/>
                  <a:pt x="80857" y="138529"/>
                </a:cubicBezTo>
                <a:cubicBezTo>
                  <a:pt x="96996" y="156686"/>
                  <a:pt x="123190" y="156686"/>
                  <a:pt x="139330" y="138529"/>
                </a:cubicBezTo>
                <a:lnTo>
                  <a:pt x="156157" y="119598"/>
                </a:lnTo>
                <a:cubicBezTo>
                  <a:pt x="158380" y="117098"/>
                  <a:pt x="161184" y="115729"/>
                  <a:pt x="164042" y="115491"/>
                </a:cubicBezTo>
                <a:cubicBezTo>
                  <a:pt x="167640" y="115133"/>
                  <a:pt x="171344" y="116503"/>
                  <a:pt x="174096" y="119598"/>
                </a:cubicBezTo>
                <a:lnTo>
                  <a:pt x="267547" y="223838"/>
                </a:lnTo>
                <a:lnTo>
                  <a:pt x="304800" y="190500"/>
                </a:lnTo>
                <a:lnTo>
                  <a:pt x="304800" y="19050"/>
                </a:lnTo>
                <a:lnTo>
                  <a:pt x="245533" y="57150"/>
                </a:lnTo>
                <a:lnTo>
                  <a:pt x="232939" y="47685"/>
                </a:lnTo>
                <a:cubicBezTo>
                  <a:pt x="224578" y="41434"/>
                  <a:pt x="214789" y="38100"/>
                  <a:pt x="204735" y="38100"/>
                </a:cubicBezTo>
                <a:lnTo>
                  <a:pt x="167481" y="38100"/>
                </a:lnTo>
                <a:cubicBezTo>
                  <a:pt x="166899" y="38100"/>
                  <a:pt x="166264" y="38100"/>
                  <a:pt x="165682" y="38160"/>
                </a:cubicBezTo>
                <a:cubicBezTo>
                  <a:pt x="156739" y="38695"/>
                  <a:pt x="148325" y="43220"/>
                  <a:pt x="142293" y="50721"/>
                </a:cubicBezTo>
                <a:close/>
                <a:moveTo>
                  <a:pt x="61701" y="108764"/>
                </a:moveTo>
                <a:lnTo>
                  <a:pt x="118216" y="38100"/>
                </a:lnTo>
                <a:lnTo>
                  <a:pt x="97261" y="38100"/>
                </a:lnTo>
                <a:cubicBezTo>
                  <a:pt x="83767" y="38100"/>
                  <a:pt x="70855" y="44113"/>
                  <a:pt x="61330" y="54828"/>
                </a:cubicBezTo>
                <a:lnTo>
                  <a:pt x="59267" y="57150"/>
                </a:lnTo>
                <a:lnTo>
                  <a:pt x="0" y="19050"/>
                </a:lnTo>
                <a:lnTo>
                  <a:pt x="0" y="190500"/>
                </a:lnTo>
                <a:lnTo>
                  <a:pt x="82762" y="268069"/>
                </a:lnTo>
                <a:cubicBezTo>
                  <a:pt x="94932" y="279499"/>
                  <a:pt x="110278" y="285750"/>
                  <a:pt x="126100" y="285750"/>
                </a:cubicBezTo>
                <a:lnTo>
                  <a:pt x="134408" y="285750"/>
                </a:lnTo>
                <a:lnTo>
                  <a:pt x="130704" y="281583"/>
                </a:lnTo>
                <a:cubicBezTo>
                  <a:pt x="125730" y="275987"/>
                  <a:pt x="125730" y="266938"/>
                  <a:pt x="130704" y="261402"/>
                </a:cubicBezTo>
                <a:cubicBezTo>
                  <a:pt x="135678" y="255865"/>
                  <a:pt x="143722" y="255806"/>
                  <a:pt x="148643" y="261402"/>
                </a:cubicBezTo>
                <a:lnTo>
                  <a:pt x="170339" y="285810"/>
                </a:lnTo>
                <a:lnTo>
                  <a:pt x="175101" y="285810"/>
                </a:lnTo>
                <a:cubicBezTo>
                  <a:pt x="185208" y="285810"/>
                  <a:pt x="195104" y="283250"/>
                  <a:pt x="204100" y="278487"/>
                </a:cubicBezTo>
                <a:lnTo>
                  <a:pt x="189971" y="262533"/>
                </a:lnTo>
                <a:cubicBezTo>
                  <a:pt x="184997" y="256937"/>
                  <a:pt x="184997" y="247888"/>
                  <a:pt x="189971" y="242352"/>
                </a:cubicBezTo>
                <a:cubicBezTo>
                  <a:pt x="194945" y="236815"/>
                  <a:pt x="202988" y="236756"/>
                  <a:pt x="207910" y="242352"/>
                </a:cubicBezTo>
                <a:lnTo>
                  <a:pt x="224843" y="261402"/>
                </a:lnTo>
                <a:lnTo>
                  <a:pt x="234103" y="250984"/>
                </a:lnTo>
                <a:cubicBezTo>
                  <a:pt x="238813" y="245685"/>
                  <a:pt x="240189" y="238006"/>
                  <a:pt x="238125" y="231279"/>
                </a:cubicBezTo>
                <a:lnTo>
                  <a:pt x="165153" y="149840"/>
                </a:lnTo>
                <a:lnTo>
                  <a:pt x="157268" y="158710"/>
                </a:lnTo>
                <a:cubicBezTo>
                  <a:pt x="131180" y="188059"/>
                  <a:pt x="88953" y="188059"/>
                  <a:pt x="62865" y="158710"/>
                </a:cubicBezTo>
                <a:cubicBezTo>
                  <a:pt x="50694" y="145018"/>
                  <a:pt x="50218" y="123051"/>
                  <a:pt x="61701" y="108704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4254500"/>
            <a:ext cx="539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生態系統思維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：跨界結盟（三井住友、野村、Ripple、Digital Asset）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271000" y="520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9" name="Text 27"/>
          <p:cNvSpPr/>
          <p:nvPr/>
        </p:nvSpPr>
        <p:spPr>
          <a:xfrm>
            <a:off x="9715500" y="5143500"/>
            <a:ext cx="539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國際鏈結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：主動參與跨境監管框架（MAS Project Guardian），輸出日本經驗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71000" y="609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31" name="Text 29"/>
          <p:cNvSpPr/>
          <p:nvPr/>
        </p:nvSpPr>
        <p:spPr>
          <a:xfrm>
            <a:off x="9715500" y="6032500"/>
            <a:ext cx="539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閉環商業模式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：發行 → 交易（ODX）→ 託管 → 結算，全鏈條覆蓋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SBI Group, Japan STO Association, Osaka Digital Exchange, 2019-2026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 Morgan Kinexys：累計 $3T 交易量的機構級代幣化基礎設施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444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$3T+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累計交易量（截至 2025 年 12 月）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61000" y="15875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$5B+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61000" y="254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日均交易量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52000" y="15875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56%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652000" y="2540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運營成本降低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3048000"/>
            <a:ext cx="14732000" cy="12700"/>
          </a:xfrm>
          <a:prstGeom prst="rect">
            <a:avLst/>
          </a:prstGeom>
          <a:solidFill>
            <a:srgbClr val="D5D2CD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23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核心產品矩陣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2000" y="3810000"/>
            <a:ext cx="4572000" cy="22225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66675"/>
                </a:moveTo>
                <a:lnTo>
                  <a:pt x="88900" y="55563"/>
                </a:lnTo>
                <a:cubicBezTo>
                  <a:pt x="88900" y="24864"/>
                  <a:pt x="148630" y="0"/>
                  <a:pt x="222250" y="0"/>
                </a:cubicBezTo>
                <a:cubicBezTo>
                  <a:pt x="295870" y="0"/>
                  <a:pt x="355600" y="24864"/>
                  <a:pt x="355600" y="55563"/>
                </a:cubicBezTo>
                <a:lnTo>
                  <a:pt x="355600" y="66675"/>
                </a:lnTo>
                <a:cubicBezTo>
                  <a:pt x="355600" y="87928"/>
                  <a:pt x="326916" y="106402"/>
                  <a:pt x="284758" y="115778"/>
                </a:cubicBezTo>
                <a:cubicBezTo>
                  <a:pt x="283091" y="113834"/>
                  <a:pt x="281355" y="111958"/>
                  <a:pt x="279618" y="110222"/>
                </a:cubicBezTo>
                <a:cubicBezTo>
                  <a:pt x="268853" y="99596"/>
                  <a:pt x="254962" y="91539"/>
                  <a:pt x="240447" y="85566"/>
                </a:cubicBezTo>
                <a:cubicBezTo>
                  <a:pt x="211346" y="73412"/>
                  <a:pt x="173424" y="66744"/>
                  <a:pt x="133350" y="66744"/>
                </a:cubicBezTo>
                <a:cubicBezTo>
                  <a:pt x="118140" y="66744"/>
                  <a:pt x="103277" y="67717"/>
                  <a:pt x="89039" y="69592"/>
                </a:cubicBezTo>
                <a:cubicBezTo>
                  <a:pt x="88900" y="68689"/>
                  <a:pt x="88900" y="67717"/>
                  <a:pt x="88900" y="66744"/>
                </a:cubicBezTo>
                <a:close/>
                <a:moveTo>
                  <a:pt x="300038" y="245170"/>
                </a:moveTo>
                <a:lnTo>
                  <a:pt x="300038" y="213082"/>
                </a:lnTo>
                <a:cubicBezTo>
                  <a:pt x="310525" y="210374"/>
                  <a:pt x="320387" y="207179"/>
                  <a:pt x="329347" y="203428"/>
                </a:cubicBezTo>
                <a:cubicBezTo>
                  <a:pt x="338515" y="199608"/>
                  <a:pt x="347474" y="194955"/>
                  <a:pt x="355600" y="189329"/>
                </a:cubicBezTo>
                <a:lnTo>
                  <a:pt x="355600" y="200025"/>
                </a:lnTo>
                <a:cubicBezTo>
                  <a:pt x="355600" y="218638"/>
                  <a:pt x="333722" y="235099"/>
                  <a:pt x="300038" y="245170"/>
                </a:cubicBezTo>
                <a:close/>
                <a:moveTo>
                  <a:pt x="300038" y="178495"/>
                </a:moveTo>
                <a:lnTo>
                  <a:pt x="300038" y="155575"/>
                </a:lnTo>
                <a:cubicBezTo>
                  <a:pt x="300038" y="152450"/>
                  <a:pt x="299760" y="149463"/>
                  <a:pt x="299343" y="146546"/>
                </a:cubicBezTo>
                <a:cubicBezTo>
                  <a:pt x="310108" y="143837"/>
                  <a:pt x="320179" y="140573"/>
                  <a:pt x="329347" y="136684"/>
                </a:cubicBezTo>
                <a:cubicBezTo>
                  <a:pt x="338515" y="132794"/>
                  <a:pt x="347474" y="128210"/>
                  <a:pt x="355600" y="122585"/>
                </a:cubicBezTo>
                <a:lnTo>
                  <a:pt x="355600" y="133281"/>
                </a:lnTo>
                <a:cubicBezTo>
                  <a:pt x="355600" y="151894"/>
                  <a:pt x="333722" y="168354"/>
                  <a:pt x="300038" y="178425"/>
                </a:cubicBezTo>
                <a:close/>
                <a:moveTo>
                  <a:pt x="0" y="166688"/>
                </a:moveTo>
                <a:lnTo>
                  <a:pt x="0" y="155575"/>
                </a:lnTo>
                <a:cubicBezTo>
                  <a:pt x="0" y="124877"/>
                  <a:pt x="59730" y="100013"/>
                  <a:pt x="133350" y="100013"/>
                </a:cubicBezTo>
                <a:cubicBezTo>
                  <a:pt x="206970" y="100013"/>
                  <a:pt x="266700" y="124877"/>
                  <a:pt x="266700" y="155575"/>
                </a:cubicBezTo>
                <a:lnTo>
                  <a:pt x="266700" y="166688"/>
                </a:lnTo>
                <a:cubicBezTo>
                  <a:pt x="266700" y="197386"/>
                  <a:pt x="206970" y="222250"/>
                  <a:pt x="133350" y="222250"/>
                </a:cubicBezTo>
                <a:cubicBezTo>
                  <a:pt x="59730" y="222250"/>
                  <a:pt x="0" y="197386"/>
                  <a:pt x="0" y="166688"/>
                </a:cubicBezTo>
                <a:close/>
                <a:moveTo>
                  <a:pt x="266700" y="233363"/>
                </a:moveTo>
                <a:cubicBezTo>
                  <a:pt x="266700" y="264061"/>
                  <a:pt x="206970" y="288925"/>
                  <a:pt x="133350" y="288925"/>
                </a:cubicBezTo>
                <a:cubicBezTo>
                  <a:pt x="59730" y="288925"/>
                  <a:pt x="0" y="264061"/>
                  <a:pt x="0" y="233363"/>
                </a:cubicBezTo>
                <a:lnTo>
                  <a:pt x="0" y="222667"/>
                </a:lnTo>
                <a:cubicBezTo>
                  <a:pt x="8057" y="228292"/>
                  <a:pt x="17016" y="232876"/>
                  <a:pt x="26253" y="236766"/>
                </a:cubicBezTo>
                <a:cubicBezTo>
                  <a:pt x="55354" y="248920"/>
                  <a:pt x="93276" y="255588"/>
                  <a:pt x="133350" y="255588"/>
                </a:cubicBezTo>
                <a:cubicBezTo>
                  <a:pt x="173424" y="255588"/>
                  <a:pt x="211346" y="248851"/>
                  <a:pt x="240447" y="236766"/>
                </a:cubicBezTo>
                <a:cubicBezTo>
                  <a:pt x="249615" y="232946"/>
                  <a:pt x="258574" y="228292"/>
                  <a:pt x="266700" y="222667"/>
                </a:cubicBezTo>
                <a:lnTo>
                  <a:pt x="266700" y="233363"/>
                </a:lnTo>
                <a:close/>
                <a:moveTo>
                  <a:pt x="266700" y="289342"/>
                </a:moveTo>
                <a:lnTo>
                  <a:pt x="266700" y="300038"/>
                </a:lnTo>
                <a:cubicBezTo>
                  <a:pt x="266700" y="330736"/>
                  <a:pt x="206970" y="355600"/>
                  <a:pt x="133350" y="355600"/>
                </a:cubicBezTo>
                <a:cubicBezTo>
                  <a:pt x="59730" y="355600"/>
                  <a:pt x="0" y="330736"/>
                  <a:pt x="0" y="300038"/>
                </a:cubicBezTo>
                <a:lnTo>
                  <a:pt x="0" y="289342"/>
                </a:lnTo>
                <a:cubicBezTo>
                  <a:pt x="8057" y="294967"/>
                  <a:pt x="17016" y="299551"/>
                  <a:pt x="26253" y="303441"/>
                </a:cubicBezTo>
                <a:cubicBezTo>
                  <a:pt x="55354" y="315595"/>
                  <a:pt x="93276" y="322263"/>
                  <a:pt x="133350" y="322263"/>
                </a:cubicBezTo>
                <a:cubicBezTo>
                  <a:pt x="173424" y="322263"/>
                  <a:pt x="211346" y="315526"/>
                  <a:pt x="240447" y="303441"/>
                </a:cubicBezTo>
                <a:cubicBezTo>
                  <a:pt x="249615" y="299621"/>
                  <a:pt x="258574" y="294967"/>
                  <a:pt x="266700" y="289342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3962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JPM Coin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16000" y="44450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代幣化存款產品，2025/6 在 Base L2 上線，支援 USD、EUR、GBP、JPY 等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種貨幣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，實現 24/7 即時轉帳結算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88000" y="3810000"/>
            <a:ext cx="4572000" cy="22225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7" name="Shape 15"/>
          <p:cNvSpPr/>
          <p:nvPr/>
        </p:nvSpPr>
        <p:spPr>
          <a:xfrm>
            <a:off x="58420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0" y="3962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Tokenized Collateral Network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42000" y="44450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與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BlackRock、Barclays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完成首個衍生品抵押品即時結算，將貨幣市場基金份額代幣化後作為抵押品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414000" y="3810000"/>
            <a:ext cx="5080000" cy="22225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680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11176000" y="39624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MONY Fund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668000" y="4445000"/>
            <a:ext cx="457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首個公開區塊鏈（以太坊）上的代幣化貨幣市場基金，由 JPMorgan Asset Management 發行，Kinexys Digital Assets 提供技術支持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2000" y="628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戰略邏輯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2000" y="6794500"/>
            <a:ext cx="1473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統一帳本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：整合現金（JPM Coin）、抵押品（TCN）、基金頭寸（MONY）於單一數位帳本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原子結算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：同步交割（DvP）降低對手方風險，結算時間從 T+2 縮短至數分鐘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逐步開放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：從許可制私有鏈起步，逐步向公共鏈（Base、Ethereum）擴展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J.P. Morgan Kinexys, CoinDesk, AssetTokenization.com, 2024-2026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全球領先者的四大共同戰略啟示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7048500" cy="3048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4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41500" y="18796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監管深度參與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2476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從規則制定階段即介入，而非被動等待。SBI 主導日本 STO 協會並推動修法；JP Morgan 與監管機構合作確保合規框架；MAS 以 Project Guardian 主動建構監管沙盒。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行動建議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：積極參與金管會 RWA 代幣平台專案小組與 VASP 公會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64500" y="1651000"/>
            <a:ext cx="7429500" cy="3048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9" name="Text 7"/>
          <p:cNvSpPr/>
          <p:nvPr/>
        </p:nvSpPr>
        <p:spPr>
          <a:xfrm>
            <a:off x="8318500" y="184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0" y="18796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基礎設施優先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18500" y="2476500"/>
            <a:ext cx="6921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先建平台與標準，再推產品。SBI 的 ODX 與 ibet for Fin；JP Morgan 的 Kinexys 統一帳本；新加坡 MAS 的 GL1 與 BLOOM 結算基礎設施。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行動建議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：投資託管基礎設施建設，參與集保區塊鏈平台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016500"/>
            <a:ext cx="7048500" cy="3048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5207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41500" y="52451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機構級安全與合規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6000" y="58420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許可制鏈、KYC/AML 嵌入工作流程、旅行規則自動遵循。Kinexys 僅開放機構客戶；SBI 的 STO 全程在監管框架內運作；所有交易可審計、可追溯。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行動建議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：導入 MPC 多簽、程式碼審計、SOC 2 認證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64500" y="5016500"/>
            <a:ext cx="7429500" cy="3048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7" name="Text 15"/>
          <p:cNvSpPr/>
          <p:nvPr/>
        </p:nvSpPr>
        <p:spPr>
          <a:xfrm>
            <a:off x="8318500" y="5207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144000" y="52451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生態系統思維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18500" y="5842000"/>
            <a:ext cx="6921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跨機構、跨國、跨資產類別的互聯互通。JP Morgan 與 DBS 合作跨銀行代幣化存款互操作性；SBI 促成日新瑞三國監管互認；MAS Project Guardian 40+ 參與者。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行動建議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：建立產業聯盟，對接新加坡/香港平台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55gi3ifpueyq/mnt/agents/output/rwa-strategy/images/10_Aerial_Panorama_Over_Taipei_after.png">    </p:cNvPr>
          <p:cNvPicPr>
            <a:picLocks noChangeAspect="1"/>
          </p:cNvPicPr>
          <p:nvPr/>
        </p:nvPicPr>
        <p:blipFill>
          <a:blip r:embed="rId1"/>
          <a:srcRect l="0" r="0" t="4545" b="454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2151F">
                  <a:alpha val="91000"/>
                </a:srgbClr>
              </a:gs>
              <a:gs pos="60000">
                <a:srgbClr val="12151F">
                  <a:alpha val="75000"/>
                </a:srgbClr>
              </a:gs>
              <a:gs pos="100000">
                <a:srgbClr val="12151F">
                  <a:alpha val="56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286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3048000" y="4318000"/>
            <a:ext cx="1016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台灣法規政策與市場環境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683000" y="5143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VASP 專法、RWA 代幣化小組與監管沙盒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47000" y="5778500"/>
            <a:ext cx="762000" cy="38100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VASP 專法草案確立特許許可制，六大業務類型分業管理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專法核心架構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7112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特許許可制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VASP 定為特許事業，未取許可不得經營。已登記 8 家業者可於專法上路後 1 年內申請，最長 2 年緩衝期。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六大業務類型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虛擬資產交換、交易平台、移轉、保管、承銷、借貸。不同業務依風險程度適用不同資本額與管理規範。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穩定幣專章（第 34-41 條）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要求 100% 法幣或短期國債準備、月度準備金公開揭露、發行人取得許可、禁止對持有者支付利息。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投資人保護機制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反市場操縱刑責 3-10 年有期徒刑，併科最高 NT$2 億罰金；負責人消極資格限制；交易平台上下架核備制。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587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合規關鍵數字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0" y="2159000"/>
            <a:ext cx="3302000" cy="1270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8" name="Text 6"/>
          <p:cNvSpPr/>
          <p:nvPr/>
        </p:nvSpPr>
        <p:spPr>
          <a:xfrm>
            <a:off x="8572500" y="2260600"/>
            <a:ext cx="292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NT$3萬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572500" y="28956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旅行規則門檻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938000" y="2159000"/>
            <a:ext cx="3556000" cy="1270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1" name="Text 9"/>
          <p:cNvSpPr/>
          <p:nvPr/>
        </p:nvSpPr>
        <p:spPr>
          <a:xfrm>
            <a:off x="12128500" y="22606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NT$50萬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28500" y="2895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大額交易通報門檻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82000" y="3683000"/>
            <a:ext cx="3302000" cy="1270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4" name="Text 12"/>
          <p:cNvSpPr/>
          <p:nvPr/>
        </p:nvSpPr>
        <p:spPr>
          <a:xfrm>
            <a:off x="8572500" y="3784600"/>
            <a:ext cx="292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3-10 年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572500" y="44196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反操縱刑責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938000" y="3683000"/>
            <a:ext cx="3556000" cy="1270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7" name="Text 15"/>
          <p:cNvSpPr/>
          <p:nvPr/>
        </p:nvSpPr>
        <p:spPr>
          <a:xfrm>
            <a:off x="12128500" y="37846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NT$2億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28500" y="4419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最高罰金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82000" y="527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立法進程時間線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82000" y="57785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2025.03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金管會預告「虛擬資產服務法」草案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2025.07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洗錢防制法修正案三讀通過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2025.11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財政委員會初審通過 VASP 專法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 H1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預計立法院三讀通過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 H2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九大配套子法陸續發布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金管會 VASP 專法草案, 洗錢防制法修正案, MarkRead Fintech, 2025-2026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RWA 代幣化小組完成 POC，從「可行」邁向「可用」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4732000" cy="1016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651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年 6 月金管會成立 RWA 代幣化小組，成員包括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央行、集保公司及 9 家金融機構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。2025 年 9 月完成 POC 技術驗證，確認債券與基金代幣化技術可行，實現 DVP 即時交割。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85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三分組實證成果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3365500"/>
            <a:ext cx="4699000" cy="355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59267" y="61119"/>
                </a:moveTo>
                <a:cubicBezTo>
                  <a:pt x="59267" y="70356"/>
                  <a:pt x="69175" y="77788"/>
                  <a:pt x="81492" y="77788"/>
                </a:cubicBezTo>
                <a:lnTo>
                  <a:pt x="125942" y="77788"/>
                </a:lnTo>
                <a:cubicBezTo>
                  <a:pt x="138258" y="77788"/>
                  <a:pt x="148167" y="70356"/>
                  <a:pt x="148167" y="61119"/>
                </a:cubicBezTo>
                <a:cubicBezTo>
                  <a:pt x="148167" y="51881"/>
                  <a:pt x="138258" y="44450"/>
                  <a:pt x="125942" y="44450"/>
                </a:cubicBezTo>
                <a:lnTo>
                  <a:pt x="81492" y="44450"/>
                </a:lnTo>
                <a:cubicBezTo>
                  <a:pt x="69175" y="44450"/>
                  <a:pt x="59267" y="51881"/>
                  <a:pt x="59267" y="61119"/>
                </a:cubicBezTo>
                <a:close/>
                <a:moveTo>
                  <a:pt x="59267" y="127794"/>
                </a:moveTo>
                <a:cubicBezTo>
                  <a:pt x="59267" y="137031"/>
                  <a:pt x="69175" y="144463"/>
                  <a:pt x="81492" y="144463"/>
                </a:cubicBezTo>
                <a:lnTo>
                  <a:pt x="125942" y="144463"/>
                </a:lnTo>
                <a:cubicBezTo>
                  <a:pt x="138258" y="144463"/>
                  <a:pt x="148167" y="137031"/>
                  <a:pt x="148167" y="127794"/>
                </a:cubicBezTo>
                <a:cubicBezTo>
                  <a:pt x="148167" y="118556"/>
                  <a:pt x="138258" y="111125"/>
                  <a:pt x="125942" y="111125"/>
                </a:cubicBezTo>
                <a:lnTo>
                  <a:pt x="81492" y="111125"/>
                </a:lnTo>
                <a:cubicBezTo>
                  <a:pt x="69175" y="111125"/>
                  <a:pt x="59267" y="118556"/>
                  <a:pt x="59267" y="127794"/>
                </a:cubicBezTo>
                <a:close/>
                <a:moveTo>
                  <a:pt x="162983" y="180578"/>
                </a:moveTo>
                <a:lnTo>
                  <a:pt x="162983" y="183356"/>
                </a:lnTo>
                <a:cubicBezTo>
                  <a:pt x="136313" y="183565"/>
                  <a:pt x="114829" y="199817"/>
                  <a:pt x="114829" y="219819"/>
                </a:cubicBezTo>
                <a:cubicBezTo>
                  <a:pt x="114829" y="237669"/>
                  <a:pt x="131961" y="252879"/>
                  <a:pt x="155482" y="255796"/>
                </a:cubicBezTo>
                <a:lnTo>
                  <a:pt x="194098" y="260658"/>
                </a:lnTo>
                <a:cubicBezTo>
                  <a:pt x="199655" y="261352"/>
                  <a:pt x="203729" y="264964"/>
                  <a:pt x="203729" y="269200"/>
                </a:cubicBezTo>
                <a:cubicBezTo>
                  <a:pt x="203729" y="273993"/>
                  <a:pt x="198543" y="277882"/>
                  <a:pt x="192154" y="277882"/>
                </a:cubicBezTo>
                <a:lnTo>
                  <a:pt x="140758" y="277813"/>
                </a:lnTo>
                <a:cubicBezTo>
                  <a:pt x="130572" y="277813"/>
                  <a:pt x="122238" y="284063"/>
                  <a:pt x="122238" y="291703"/>
                </a:cubicBezTo>
                <a:cubicBezTo>
                  <a:pt x="122238" y="299343"/>
                  <a:pt x="130572" y="305594"/>
                  <a:pt x="140758" y="305594"/>
                </a:cubicBezTo>
                <a:lnTo>
                  <a:pt x="162983" y="305594"/>
                </a:lnTo>
                <a:lnTo>
                  <a:pt x="162983" y="308372"/>
                </a:lnTo>
                <a:cubicBezTo>
                  <a:pt x="162983" y="316012"/>
                  <a:pt x="171318" y="322263"/>
                  <a:pt x="181504" y="322263"/>
                </a:cubicBezTo>
                <a:cubicBezTo>
                  <a:pt x="191691" y="322263"/>
                  <a:pt x="200025" y="316012"/>
                  <a:pt x="200025" y="308372"/>
                </a:cubicBezTo>
                <a:lnTo>
                  <a:pt x="200025" y="305108"/>
                </a:lnTo>
                <a:cubicBezTo>
                  <a:pt x="223176" y="302260"/>
                  <a:pt x="240771" y="287258"/>
                  <a:pt x="240771" y="269131"/>
                </a:cubicBezTo>
                <a:cubicBezTo>
                  <a:pt x="240771" y="251281"/>
                  <a:pt x="223639" y="236071"/>
                  <a:pt x="200118" y="233154"/>
                </a:cubicBezTo>
                <a:lnTo>
                  <a:pt x="161502" y="228292"/>
                </a:lnTo>
                <a:cubicBezTo>
                  <a:pt x="155945" y="227598"/>
                  <a:pt x="151871" y="223986"/>
                  <a:pt x="151871" y="219750"/>
                </a:cubicBezTo>
                <a:cubicBezTo>
                  <a:pt x="151871" y="214957"/>
                  <a:pt x="157057" y="211068"/>
                  <a:pt x="163446" y="211068"/>
                </a:cubicBezTo>
                <a:lnTo>
                  <a:pt x="207433" y="211068"/>
                </a:lnTo>
                <a:cubicBezTo>
                  <a:pt x="217620" y="211068"/>
                  <a:pt x="225954" y="204817"/>
                  <a:pt x="225954" y="197177"/>
                </a:cubicBezTo>
                <a:cubicBezTo>
                  <a:pt x="225954" y="189538"/>
                  <a:pt x="217620" y="183287"/>
                  <a:pt x="207433" y="183287"/>
                </a:cubicBezTo>
                <a:lnTo>
                  <a:pt x="200025" y="183287"/>
                </a:lnTo>
                <a:lnTo>
                  <a:pt x="200025" y="180509"/>
                </a:lnTo>
                <a:cubicBezTo>
                  <a:pt x="200025" y="172869"/>
                  <a:pt x="191691" y="166618"/>
                  <a:pt x="181504" y="166618"/>
                </a:cubicBezTo>
                <a:cubicBezTo>
                  <a:pt x="171318" y="166618"/>
                  <a:pt x="162983" y="172869"/>
                  <a:pt x="162983" y="180509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3530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國內債券組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40386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透過集保區塊鏈平台將國內債券代幣化（數位孿生），實現：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自動化配息還本付息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減少交割時間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近乎全天候交易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提升作業與監管效率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3365500"/>
            <a:ext cx="4699000" cy="355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2" name="Shape 10"/>
          <p:cNvSpPr/>
          <p:nvPr/>
        </p:nvSpPr>
        <p:spPr>
          <a:xfrm>
            <a:off x="59690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8685" y="138698"/>
                </a:moveTo>
                <a:lnTo>
                  <a:pt x="60146" y="160159"/>
                </a:lnTo>
                <a:cubicBezTo>
                  <a:pt x="64314" y="164326"/>
                  <a:pt x="69939" y="166688"/>
                  <a:pt x="75843" y="166688"/>
                </a:cubicBezTo>
                <a:lnTo>
                  <a:pt x="90775" y="166688"/>
                </a:lnTo>
                <a:cubicBezTo>
                  <a:pt x="96679" y="166688"/>
                  <a:pt x="102304" y="169049"/>
                  <a:pt x="106472" y="173216"/>
                </a:cubicBezTo>
                <a:lnTo>
                  <a:pt x="126821" y="193566"/>
                </a:lnTo>
                <a:cubicBezTo>
                  <a:pt x="130989" y="197733"/>
                  <a:pt x="133350" y="203359"/>
                  <a:pt x="133350" y="209262"/>
                </a:cubicBezTo>
                <a:lnTo>
                  <a:pt x="133350" y="235307"/>
                </a:lnTo>
                <a:cubicBezTo>
                  <a:pt x="133350" y="241211"/>
                  <a:pt x="135711" y="246836"/>
                  <a:pt x="139879" y="251004"/>
                </a:cubicBezTo>
                <a:lnTo>
                  <a:pt x="149116" y="260241"/>
                </a:lnTo>
                <a:cubicBezTo>
                  <a:pt x="153283" y="264408"/>
                  <a:pt x="155644" y="270034"/>
                  <a:pt x="155644" y="275937"/>
                </a:cubicBezTo>
                <a:lnTo>
                  <a:pt x="155644" y="288925"/>
                </a:lnTo>
                <a:cubicBezTo>
                  <a:pt x="155644" y="301218"/>
                  <a:pt x="165576" y="311150"/>
                  <a:pt x="177869" y="311150"/>
                </a:cubicBezTo>
                <a:cubicBezTo>
                  <a:pt x="190163" y="311150"/>
                  <a:pt x="200094" y="301218"/>
                  <a:pt x="200094" y="288925"/>
                </a:cubicBezTo>
                <a:lnTo>
                  <a:pt x="200094" y="287050"/>
                </a:lnTo>
                <a:cubicBezTo>
                  <a:pt x="200094" y="281146"/>
                  <a:pt x="202456" y="275521"/>
                  <a:pt x="206623" y="271353"/>
                </a:cubicBezTo>
                <a:lnTo>
                  <a:pt x="238085" y="239891"/>
                </a:lnTo>
                <a:cubicBezTo>
                  <a:pt x="242253" y="235724"/>
                  <a:pt x="244614" y="230098"/>
                  <a:pt x="244614" y="224195"/>
                </a:cubicBezTo>
                <a:lnTo>
                  <a:pt x="244614" y="200094"/>
                </a:lnTo>
                <a:cubicBezTo>
                  <a:pt x="244614" y="187801"/>
                  <a:pt x="234682" y="177869"/>
                  <a:pt x="222389" y="177869"/>
                </a:cubicBezTo>
                <a:lnTo>
                  <a:pt x="164951" y="177869"/>
                </a:lnTo>
                <a:cubicBezTo>
                  <a:pt x="159048" y="177869"/>
                  <a:pt x="153422" y="175508"/>
                  <a:pt x="149255" y="171341"/>
                </a:cubicBezTo>
                <a:lnTo>
                  <a:pt x="138142" y="160228"/>
                </a:lnTo>
                <a:cubicBezTo>
                  <a:pt x="135225" y="157311"/>
                  <a:pt x="133558" y="153283"/>
                  <a:pt x="133558" y="149116"/>
                </a:cubicBezTo>
                <a:cubicBezTo>
                  <a:pt x="133558" y="140434"/>
                  <a:pt x="140573" y="133419"/>
                  <a:pt x="149255" y="133419"/>
                </a:cubicBezTo>
                <a:lnTo>
                  <a:pt x="173355" y="133419"/>
                </a:lnTo>
                <a:cubicBezTo>
                  <a:pt x="182037" y="133419"/>
                  <a:pt x="189051" y="126405"/>
                  <a:pt x="189051" y="117723"/>
                </a:cubicBezTo>
                <a:cubicBezTo>
                  <a:pt x="189051" y="113556"/>
                  <a:pt x="187385" y="109528"/>
                  <a:pt x="184468" y="106611"/>
                </a:cubicBezTo>
                <a:lnTo>
                  <a:pt x="170785" y="92928"/>
                </a:lnTo>
                <a:cubicBezTo>
                  <a:pt x="168077" y="90289"/>
                  <a:pt x="166688" y="86886"/>
                  <a:pt x="166688" y="83344"/>
                </a:cubicBezTo>
                <a:cubicBezTo>
                  <a:pt x="166688" y="79802"/>
                  <a:pt x="168077" y="76398"/>
                  <a:pt x="170646" y="73829"/>
                </a:cubicBezTo>
                <a:lnTo>
                  <a:pt x="182662" y="61813"/>
                </a:lnTo>
                <a:cubicBezTo>
                  <a:pt x="186690" y="57785"/>
                  <a:pt x="188982" y="52298"/>
                  <a:pt x="188982" y="46603"/>
                </a:cubicBezTo>
                <a:cubicBezTo>
                  <a:pt x="188982" y="41602"/>
                  <a:pt x="187315" y="37088"/>
                  <a:pt x="184537" y="33476"/>
                </a:cubicBezTo>
                <a:cubicBezTo>
                  <a:pt x="182314" y="33407"/>
                  <a:pt x="180092" y="33337"/>
                  <a:pt x="177869" y="33337"/>
                </a:cubicBezTo>
                <a:cubicBezTo>
                  <a:pt x="111611" y="33337"/>
                  <a:pt x="55840" y="77926"/>
                  <a:pt x="38755" y="138698"/>
                </a:cubicBezTo>
                <a:close/>
                <a:moveTo>
                  <a:pt x="322263" y="177800"/>
                </a:moveTo>
                <a:cubicBezTo>
                  <a:pt x="322263" y="153769"/>
                  <a:pt x="316428" y="131128"/>
                  <a:pt x="306010" y="111264"/>
                </a:cubicBezTo>
                <a:cubicBezTo>
                  <a:pt x="301565" y="111889"/>
                  <a:pt x="297190" y="113973"/>
                  <a:pt x="293578" y="117584"/>
                </a:cubicBezTo>
                <a:lnTo>
                  <a:pt x="284272" y="126891"/>
                </a:lnTo>
                <a:cubicBezTo>
                  <a:pt x="280104" y="131058"/>
                  <a:pt x="277743" y="136684"/>
                  <a:pt x="277743" y="142587"/>
                </a:cubicBezTo>
                <a:lnTo>
                  <a:pt x="277743" y="166688"/>
                </a:lnTo>
                <a:cubicBezTo>
                  <a:pt x="277743" y="178981"/>
                  <a:pt x="287675" y="188913"/>
                  <a:pt x="299968" y="188913"/>
                </a:cubicBezTo>
                <a:lnTo>
                  <a:pt x="316706" y="188913"/>
                </a:lnTo>
                <a:cubicBezTo>
                  <a:pt x="318443" y="188913"/>
                  <a:pt x="320179" y="188704"/>
                  <a:pt x="321776" y="188357"/>
                </a:cubicBezTo>
                <a:cubicBezTo>
                  <a:pt x="322054" y="184884"/>
                  <a:pt x="322124" y="181342"/>
                  <a:pt x="322124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600" y="3530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國外債券組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69000" y="40386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將外國債券代幣化、碎片化後提供交易服務：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自建交易平台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串接財金公司金流平台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美元存款代幣 DVP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降低投資門檻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68000" y="3365500"/>
            <a:ext cx="4826000" cy="355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220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88900" y="66675"/>
                </a:moveTo>
                <a:cubicBezTo>
                  <a:pt x="88900" y="54382"/>
                  <a:pt x="98832" y="44450"/>
                  <a:pt x="111125" y="44450"/>
                </a:cubicBezTo>
                <a:lnTo>
                  <a:pt x="244475" y="44450"/>
                </a:lnTo>
                <a:cubicBezTo>
                  <a:pt x="256768" y="44450"/>
                  <a:pt x="266700" y="54382"/>
                  <a:pt x="266700" y="66675"/>
                </a:cubicBezTo>
                <a:cubicBezTo>
                  <a:pt x="266700" y="78968"/>
                  <a:pt x="256768" y="88900"/>
                  <a:pt x="244475" y="88900"/>
                </a:cubicBezTo>
                <a:lnTo>
                  <a:pt x="111125" y="88900"/>
                </a:lnTo>
                <a:cubicBezTo>
                  <a:pt x="98832" y="88900"/>
                  <a:pt x="88900" y="78968"/>
                  <a:pt x="88900" y="66675"/>
                </a:cubicBezTo>
                <a:close/>
                <a:moveTo>
                  <a:pt x="111125" y="122238"/>
                </a:moveTo>
                <a:lnTo>
                  <a:pt x="200025" y="122238"/>
                </a:lnTo>
                <a:cubicBezTo>
                  <a:pt x="212318" y="122238"/>
                  <a:pt x="222250" y="132169"/>
                  <a:pt x="222250" y="144463"/>
                </a:cubicBezTo>
                <a:cubicBezTo>
                  <a:pt x="222250" y="156756"/>
                  <a:pt x="212318" y="166688"/>
                  <a:pt x="200025" y="166688"/>
                </a:cubicBezTo>
                <a:lnTo>
                  <a:pt x="111125" y="166688"/>
                </a:lnTo>
                <a:cubicBezTo>
                  <a:pt x="98832" y="166688"/>
                  <a:pt x="88900" y="156756"/>
                  <a:pt x="88900" y="144463"/>
                </a:cubicBezTo>
                <a:cubicBezTo>
                  <a:pt x="88900" y="132169"/>
                  <a:pt x="98832" y="122238"/>
                  <a:pt x="111125" y="122238"/>
                </a:cubicBezTo>
                <a:close/>
                <a:moveTo>
                  <a:pt x="111125" y="200025"/>
                </a:moveTo>
                <a:lnTo>
                  <a:pt x="288925" y="200025"/>
                </a:lnTo>
                <a:cubicBezTo>
                  <a:pt x="301218" y="200025"/>
                  <a:pt x="311150" y="209957"/>
                  <a:pt x="311150" y="222250"/>
                </a:cubicBezTo>
                <a:cubicBezTo>
                  <a:pt x="311150" y="234543"/>
                  <a:pt x="301218" y="244475"/>
                  <a:pt x="288925" y="244475"/>
                </a:cubicBezTo>
                <a:lnTo>
                  <a:pt x="111125" y="244475"/>
                </a:lnTo>
                <a:cubicBezTo>
                  <a:pt x="98832" y="244475"/>
                  <a:pt x="88900" y="234543"/>
                  <a:pt x="88900" y="222250"/>
                </a:cubicBezTo>
                <a:cubicBezTo>
                  <a:pt x="88900" y="209957"/>
                  <a:pt x="98832" y="200025"/>
                  <a:pt x="111125" y="200025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04600" y="3530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基金組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22000" y="40386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將台幣貨幣型及股票型基金代幣化：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申購、贖回、交易服務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串接財金公司金流平台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台幣存款代幣 DVP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提升資金運用效率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2000" y="7175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下一階段推進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7620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金管會設立「金融行動創新法規調適平台」數位資產專題委員會　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集保與櫃買中心受託進行法規研究　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RWA 代幣平台專案小組已召開 3 次會議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金管會新聞稿, RWA 代幣化小組 POC 報告, 2025.09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亞太監管競賽：新加坡 MAS 與香港 SFC 的領先佈局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048500" cy="482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80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543" y="19050"/>
                </a:moveTo>
                <a:cubicBezTo>
                  <a:pt x="43543" y="8513"/>
                  <a:pt x="33814" y="0"/>
                  <a:pt x="21771" y="0"/>
                </a:cubicBezTo>
                <a:cubicBezTo>
                  <a:pt x="9729" y="0"/>
                  <a:pt x="0" y="8513"/>
                  <a:pt x="0" y="19050"/>
                </a:cubicBezTo>
                <a:lnTo>
                  <a:pt x="0" y="285750"/>
                </a:lnTo>
                <a:cubicBezTo>
                  <a:pt x="0" y="296287"/>
                  <a:pt x="9729" y="304800"/>
                  <a:pt x="21771" y="304800"/>
                </a:cubicBezTo>
                <a:cubicBezTo>
                  <a:pt x="33814" y="304800"/>
                  <a:pt x="43543" y="296287"/>
                  <a:pt x="43543" y="285750"/>
                </a:cubicBezTo>
                <a:lnTo>
                  <a:pt x="43543" y="213360"/>
                </a:lnTo>
                <a:lnTo>
                  <a:pt x="86201" y="202168"/>
                </a:lnTo>
                <a:cubicBezTo>
                  <a:pt x="114708" y="194667"/>
                  <a:pt x="145460" y="196989"/>
                  <a:pt x="172062" y="208657"/>
                </a:cubicBezTo>
                <a:cubicBezTo>
                  <a:pt x="201114" y="221397"/>
                  <a:pt x="234995" y="222945"/>
                  <a:pt x="265407" y="212943"/>
                </a:cubicBezTo>
                <a:lnTo>
                  <a:pt x="290649" y="204668"/>
                </a:lnTo>
                <a:cubicBezTo>
                  <a:pt x="299153" y="201870"/>
                  <a:pt x="304800" y="194786"/>
                  <a:pt x="304800" y="186809"/>
                </a:cubicBezTo>
                <a:lnTo>
                  <a:pt x="304800" y="39350"/>
                </a:lnTo>
                <a:cubicBezTo>
                  <a:pt x="304800" y="25658"/>
                  <a:pt x="288335" y="16728"/>
                  <a:pt x="274320" y="22860"/>
                </a:cubicBezTo>
                <a:lnTo>
                  <a:pt x="266292" y="26372"/>
                </a:lnTo>
                <a:cubicBezTo>
                  <a:pt x="235744" y="39767"/>
                  <a:pt x="199753" y="39767"/>
                  <a:pt x="169137" y="26372"/>
                </a:cubicBezTo>
                <a:cubicBezTo>
                  <a:pt x="144372" y="15538"/>
                  <a:pt x="115865" y="13395"/>
                  <a:pt x="89399" y="20360"/>
                </a:cubicBezTo>
                <a:lnTo>
                  <a:pt x="43543" y="32385"/>
                </a:lnTo>
                <a:lnTo>
                  <a:pt x="43543" y="19050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新加坡 MAS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2286000"/>
            <a:ext cx="654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Guardian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（2022-）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40+ 產業參與者，完成固定收益、基金、外匯代幣化試驗，建立標準化協議與風險管理框架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3492500"/>
            <a:ext cx="654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Layer 1 (GL1)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（2024/6）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共享帳本標準，統一結算規則、數據格式與跨網絡連接，支持代幣化資產跨平台互操作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6000" y="4699000"/>
            <a:ext cx="654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BLOOM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（2025/10）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跨境即時結算網絡，支持代幣化資產的安全交換與最終結算，連接全球數位資產市場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64500" y="1587500"/>
            <a:ext cx="7429500" cy="3175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80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543" y="19050"/>
                </a:moveTo>
                <a:cubicBezTo>
                  <a:pt x="43543" y="8513"/>
                  <a:pt x="33814" y="0"/>
                  <a:pt x="21771" y="0"/>
                </a:cubicBezTo>
                <a:cubicBezTo>
                  <a:pt x="9729" y="0"/>
                  <a:pt x="0" y="8513"/>
                  <a:pt x="0" y="19050"/>
                </a:cubicBezTo>
                <a:lnTo>
                  <a:pt x="0" y="285750"/>
                </a:lnTo>
                <a:cubicBezTo>
                  <a:pt x="0" y="296287"/>
                  <a:pt x="9729" y="304800"/>
                  <a:pt x="21771" y="304800"/>
                </a:cubicBezTo>
                <a:cubicBezTo>
                  <a:pt x="33814" y="304800"/>
                  <a:pt x="43543" y="296287"/>
                  <a:pt x="43543" y="285750"/>
                </a:cubicBezTo>
                <a:lnTo>
                  <a:pt x="43543" y="213360"/>
                </a:lnTo>
                <a:lnTo>
                  <a:pt x="86201" y="202168"/>
                </a:lnTo>
                <a:cubicBezTo>
                  <a:pt x="114708" y="194667"/>
                  <a:pt x="145460" y="196989"/>
                  <a:pt x="172062" y="208657"/>
                </a:cubicBezTo>
                <a:cubicBezTo>
                  <a:pt x="201114" y="221397"/>
                  <a:pt x="234995" y="222945"/>
                  <a:pt x="265407" y="212943"/>
                </a:cubicBezTo>
                <a:lnTo>
                  <a:pt x="290649" y="204668"/>
                </a:lnTo>
                <a:cubicBezTo>
                  <a:pt x="299153" y="201870"/>
                  <a:pt x="304800" y="194786"/>
                  <a:pt x="304800" y="186809"/>
                </a:cubicBezTo>
                <a:lnTo>
                  <a:pt x="304800" y="39350"/>
                </a:lnTo>
                <a:cubicBezTo>
                  <a:pt x="304800" y="25658"/>
                  <a:pt x="288335" y="16728"/>
                  <a:pt x="274320" y="22860"/>
                </a:cubicBezTo>
                <a:lnTo>
                  <a:pt x="266292" y="26372"/>
                </a:lnTo>
                <a:cubicBezTo>
                  <a:pt x="235744" y="39767"/>
                  <a:pt x="199753" y="39767"/>
                  <a:pt x="169137" y="26372"/>
                </a:cubicBezTo>
                <a:cubicBezTo>
                  <a:pt x="144372" y="15538"/>
                  <a:pt x="115865" y="13395"/>
                  <a:pt x="89399" y="20360"/>
                </a:cubicBezTo>
                <a:lnTo>
                  <a:pt x="43543" y="32385"/>
                </a:lnTo>
                <a:lnTo>
                  <a:pt x="43543" y="19050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香港 SFC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18500" y="2286000"/>
            <a:ext cx="692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沙盒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測試代幣化用例，支持本地與區域跨境試驗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18500" y="2984500"/>
            <a:ext cx="692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《穩定幣條例》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年 8 月生效，建立發牌與監管框架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18500" y="3683000"/>
            <a:ext cx="692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VASP 牌照制度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全面實施，允許零售投資者參與持牌產品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64500" y="5016500"/>
            <a:ext cx="7429500" cy="1397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7" name="Text 15"/>
          <p:cNvSpPr/>
          <p:nvPr/>
        </p:nvSpPr>
        <p:spPr>
          <a:xfrm>
            <a:off x="8318500" y="5143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台灣定位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18500" y="5524500"/>
            <a:ext cx="692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監管進度落後新加坡 2-3 年，但 POC 已完成、法規調適進行中，具備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「後發優勢」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可借鏡他國經驗。關鍵差異：市場規模較小、散戶比例高、金融機構相對保守。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731000"/>
          <a:ext cx="14732000" cy="13335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3F0E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維度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3F0E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新加坡 MAS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3F0E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香港 SFC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3F0E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台灣 金管會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RWA 進展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Project Guardian 40+ 參與者，多項 live use cases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Ensemble 沙盒運作中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POC 完成，法規調適進行中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MAS, HKMA, SFC, Oxford Business Law Blog, 2025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55gi3ifpueyq/mnt/agents/output/rwa-strategy/images/4_Abstract_Dark_Green_Crypto_Hexag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2151F">
                  <a:alpha val="91000"/>
                </a:srgbClr>
              </a:gs>
              <a:gs pos="60000">
                <a:srgbClr val="12151F">
                  <a:alpha val="75000"/>
                </a:srgbClr>
              </a:gs>
              <a:gs pos="100000">
                <a:srgbClr val="12151F">
                  <a:alpha val="56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286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3048000" y="4318000"/>
            <a:ext cx="1016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策略建議與落地規劃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048000" y="5143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三階段路徑：從託管基石到 RWA 生態系統建構者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47000" y="5778500"/>
            <a:ext cx="762000" cy="38100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業務定位：成為台灣 RWA 生態系統的核心參與者與基礎設施提供者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4732000" cy="762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651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願景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：台灣領先的虛擬資產綜合服務商，連結傳統金融與數位資產的生態樞紐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四大業務支柱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238500"/>
            <a:ext cx="3429000" cy="3302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cubicBezTo>
                  <a:pt x="50800" y="395049"/>
                  <a:pt x="62151" y="406400"/>
                  <a:pt x="76200" y="406400"/>
                </a:cubicBezTo>
                <a:cubicBezTo>
                  <a:pt x="90249" y="406400"/>
                  <a:pt x="101600" y="395049"/>
                  <a:pt x="101600" y="381000"/>
                </a:cubicBezTo>
                <a:lnTo>
                  <a:pt x="304800" y="381000"/>
                </a:lnTo>
                <a:cubicBezTo>
                  <a:pt x="304800" y="395049"/>
                  <a:pt x="316151" y="406400"/>
                  <a:pt x="330200" y="406400"/>
                </a:cubicBezTo>
                <a:cubicBezTo>
                  <a:pt x="344249" y="406400"/>
                  <a:pt x="355600" y="395049"/>
                  <a:pt x="355600" y="381000"/>
                </a:cubicBezTo>
                <a:cubicBezTo>
                  <a:pt x="383619" y="381000"/>
                  <a:pt x="406400" y="358219"/>
                  <a:pt x="406400" y="3302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203200" y="203200"/>
                </a:moveTo>
                <a:cubicBezTo>
                  <a:pt x="203200" y="175163"/>
                  <a:pt x="180437" y="152400"/>
                  <a:pt x="152400" y="152400"/>
                </a:cubicBezTo>
                <a:cubicBezTo>
                  <a:pt x="124363" y="152400"/>
                  <a:pt x="101600" y="175163"/>
                  <a:pt x="101600" y="203200"/>
                </a:cubicBezTo>
                <a:cubicBezTo>
                  <a:pt x="101600" y="231237"/>
                  <a:pt x="124363" y="254000"/>
                  <a:pt x="152400" y="254000"/>
                </a:cubicBezTo>
                <a:cubicBezTo>
                  <a:pt x="180437" y="254000"/>
                  <a:pt x="203200" y="231237"/>
                  <a:pt x="203200" y="203200"/>
                </a:cubicBezTo>
                <a:close/>
                <a:moveTo>
                  <a:pt x="50800" y="203200"/>
                </a:moveTo>
                <a:cubicBezTo>
                  <a:pt x="50800" y="147125"/>
                  <a:pt x="96325" y="101600"/>
                  <a:pt x="152400" y="101600"/>
                </a:cubicBezTo>
                <a:cubicBezTo>
                  <a:pt x="208475" y="101600"/>
                  <a:pt x="254000" y="147125"/>
                  <a:pt x="254000" y="203200"/>
                </a:cubicBezTo>
                <a:cubicBezTo>
                  <a:pt x="254000" y="259275"/>
                  <a:pt x="208475" y="304800"/>
                  <a:pt x="152400" y="304800"/>
                </a:cubicBezTo>
                <a:cubicBezTo>
                  <a:pt x="96325" y="304800"/>
                  <a:pt x="50800" y="259275"/>
                  <a:pt x="50800" y="203200"/>
                </a:cubicBezTo>
                <a:close/>
                <a:moveTo>
                  <a:pt x="355600" y="165100"/>
                </a:moveTo>
                <a:cubicBezTo>
                  <a:pt x="355600" y="179229"/>
                  <a:pt x="347901" y="191532"/>
                  <a:pt x="336550" y="198120"/>
                </a:cubicBezTo>
                <a:lnTo>
                  <a:pt x="336550" y="260350"/>
                </a:lnTo>
                <a:cubicBezTo>
                  <a:pt x="336550" y="270907"/>
                  <a:pt x="328057" y="279400"/>
                  <a:pt x="317500" y="279400"/>
                </a:cubicBezTo>
                <a:cubicBezTo>
                  <a:pt x="306943" y="279400"/>
                  <a:pt x="298450" y="270907"/>
                  <a:pt x="298450" y="260350"/>
                </a:cubicBezTo>
                <a:lnTo>
                  <a:pt x="298450" y="198120"/>
                </a:lnTo>
                <a:cubicBezTo>
                  <a:pt x="287099" y="191532"/>
                  <a:pt x="279400" y="179229"/>
                  <a:pt x="279400" y="165100"/>
                </a:cubicBezTo>
                <a:cubicBezTo>
                  <a:pt x="279400" y="144066"/>
                  <a:pt x="296466" y="127000"/>
                  <a:pt x="317500" y="127000"/>
                </a:cubicBezTo>
                <a:cubicBezTo>
                  <a:pt x="338534" y="127000"/>
                  <a:pt x="355600" y="144066"/>
                  <a:pt x="355600" y="165100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038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虛擬資產託管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4445000"/>
            <a:ext cx="29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機構級冷熱錢包管理、私鑰託管（MPC/HSM）、資產分離保管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對應 VASP「保管」業務類型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45000" y="3238500"/>
            <a:ext cx="3429000" cy="3302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99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76200"/>
                </a:moveTo>
                <a:lnTo>
                  <a:pt x="101600" y="63500"/>
                </a:lnTo>
                <a:cubicBezTo>
                  <a:pt x="101600" y="28416"/>
                  <a:pt x="169863" y="0"/>
                  <a:pt x="254000" y="0"/>
                </a:cubicBezTo>
                <a:cubicBezTo>
                  <a:pt x="338138" y="0"/>
                  <a:pt x="406400" y="28416"/>
                  <a:pt x="406400" y="63500"/>
                </a:cubicBezTo>
                <a:lnTo>
                  <a:pt x="406400" y="76200"/>
                </a:lnTo>
                <a:cubicBezTo>
                  <a:pt x="406400" y="100489"/>
                  <a:pt x="373618" y="121603"/>
                  <a:pt x="325438" y="132318"/>
                </a:cubicBezTo>
                <a:cubicBezTo>
                  <a:pt x="323533" y="130096"/>
                  <a:pt x="321548" y="127953"/>
                  <a:pt x="319564" y="125968"/>
                </a:cubicBezTo>
                <a:cubicBezTo>
                  <a:pt x="307261" y="113824"/>
                  <a:pt x="291386" y="104616"/>
                  <a:pt x="274796" y="97790"/>
                </a:cubicBezTo>
                <a:cubicBezTo>
                  <a:pt x="241538" y="83899"/>
                  <a:pt x="198199" y="76279"/>
                  <a:pt x="152400" y="76279"/>
                </a:cubicBezTo>
                <a:cubicBezTo>
                  <a:pt x="135017" y="76279"/>
                  <a:pt x="118031" y="77391"/>
                  <a:pt x="101759" y="79534"/>
                </a:cubicBezTo>
                <a:cubicBezTo>
                  <a:pt x="101600" y="78502"/>
                  <a:pt x="101600" y="77391"/>
                  <a:pt x="101600" y="76279"/>
                </a:cubicBezTo>
                <a:close/>
                <a:moveTo>
                  <a:pt x="342900" y="280194"/>
                </a:moveTo>
                <a:lnTo>
                  <a:pt x="342900" y="243523"/>
                </a:lnTo>
                <a:cubicBezTo>
                  <a:pt x="354886" y="240427"/>
                  <a:pt x="366157" y="236776"/>
                  <a:pt x="376396" y="232489"/>
                </a:cubicBezTo>
                <a:cubicBezTo>
                  <a:pt x="386874" y="228124"/>
                  <a:pt x="397113" y="222806"/>
                  <a:pt x="406400" y="216376"/>
                </a:cubicBezTo>
                <a:lnTo>
                  <a:pt x="406400" y="228600"/>
                </a:lnTo>
                <a:cubicBezTo>
                  <a:pt x="406400" y="249873"/>
                  <a:pt x="381397" y="268684"/>
                  <a:pt x="342900" y="280194"/>
                </a:cubicBezTo>
                <a:close/>
                <a:moveTo>
                  <a:pt x="342900" y="203994"/>
                </a:moveTo>
                <a:lnTo>
                  <a:pt x="342900" y="177800"/>
                </a:lnTo>
                <a:cubicBezTo>
                  <a:pt x="342900" y="174228"/>
                  <a:pt x="342583" y="170815"/>
                  <a:pt x="342106" y="167481"/>
                </a:cubicBezTo>
                <a:cubicBezTo>
                  <a:pt x="354409" y="164386"/>
                  <a:pt x="365919" y="160655"/>
                  <a:pt x="376396" y="156210"/>
                </a:cubicBezTo>
                <a:cubicBezTo>
                  <a:pt x="386874" y="151765"/>
                  <a:pt x="397113" y="146526"/>
                  <a:pt x="406400" y="140097"/>
                </a:cubicBezTo>
                <a:lnTo>
                  <a:pt x="406400" y="152321"/>
                </a:lnTo>
                <a:cubicBezTo>
                  <a:pt x="406400" y="173593"/>
                  <a:pt x="381397" y="192405"/>
                  <a:pt x="342900" y="203914"/>
                </a:cubicBezTo>
                <a:close/>
                <a:moveTo>
                  <a:pt x="0" y="190500"/>
                </a:moveTo>
                <a:lnTo>
                  <a:pt x="0" y="177800"/>
                </a:lnTo>
                <a:cubicBezTo>
                  <a:pt x="0" y="142716"/>
                  <a:pt x="68263" y="114300"/>
                  <a:pt x="152400" y="114300"/>
                </a:cubicBezTo>
                <a:cubicBezTo>
                  <a:pt x="236538" y="114300"/>
                  <a:pt x="304800" y="142716"/>
                  <a:pt x="304800" y="177800"/>
                </a:cubicBezTo>
                <a:lnTo>
                  <a:pt x="304800" y="190500"/>
                </a:lnTo>
                <a:cubicBezTo>
                  <a:pt x="304800" y="225584"/>
                  <a:pt x="236538" y="254000"/>
                  <a:pt x="152400" y="254000"/>
                </a:cubicBezTo>
                <a:cubicBezTo>
                  <a:pt x="68263" y="254000"/>
                  <a:pt x="0" y="225584"/>
                  <a:pt x="0" y="190500"/>
                </a:cubicBezTo>
                <a:close/>
                <a:moveTo>
                  <a:pt x="304800" y="266700"/>
                </a:moveTo>
                <a:cubicBezTo>
                  <a:pt x="304800" y="301784"/>
                  <a:pt x="236538" y="330200"/>
                  <a:pt x="152400" y="330200"/>
                </a:cubicBezTo>
                <a:cubicBezTo>
                  <a:pt x="68263" y="330200"/>
                  <a:pt x="0" y="301784"/>
                  <a:pt x="0" y="266700"/>
                </a:cubicBezTo>
                <a:lnTo>
                  <a:pt x="0" y="254476"/>
                </a:lnTo>
                <a:cubicBezTo>
                  <a:pt x="9207" y="260906"/>
                  <a:pt x="19447" y="266144"/>
                  <a:pt x="30004" y="270589"/>
                </a:cubicBezTo>
                <a:cubicBezTo>
                  <a:pt x="63262" y="284480"/>
                  <a:pt x="106601" y="292100"/>
                  <a:pt x="152400" y="292100"/>
                </a:cubicBezTo>
                <a:cubicBezTo>
                  <a:pt x="198199" y="292100"/>
                  <a:pt x="241538" y="284401"/>
                  <a:pt x="274796" y="270589"/>
                </a:cubicBezTo>
                <a:cubicBezTo>
                  <a:pt x="285274" y="266224"/>
                  <a:pt x="295513" y="260906"/>
                  <a:pt x="304800" y="254476"/>
                </a:cubicBezTo>
                <a:lnTo>
                  <a:pt x="304800" y="266700"/>
                </a:lnTo>
                <a:close/>
                <a:moveTo>
                  <a:pt x="304800" y="330676"/>
                </a:moveTo>
                <a:lnTo>
                  <a:pt x="304800" y="342900"/>
                </a:lnTo>
                <a:cubicBezTo>
                  <a:pt x="304800" y="377984"/>
                  <a:pt x="236538" y="406400"/>
                  <a:pt x="152400" y="406400"/>
                </a:cubicBezTo>
                <a:cubicBezTo>
                  <a:pt x="68263" y="406400"/>
                  <a:pt x="0" y="377984"/>
                  <a:pt x="0" y="342900"/>
                </a:cubicBezTo>
                <a:lnTo>
                  <a:pt x="0" y="330676"/>
                </a:lnTo>
                <a:cubicBezTo>
                  <a:pt x="9207" y="337106"/>
                  <a:pt x="19447" y="342344"/>
                  <a:pt x="30004" y="346789"/>
                </a:cubicBezTo>
                <a:cubicBezTo>
                  <a:pt x="63262" y="360680"/>
                  <a:pt x="106601" y="368300"/>
                  <a:pt x="152400" y="368300"/>
                </a:cubicBezTo>
                <a:cubicBezTo>
                  <a:pt x="198199" y="368300"/>
                  <a:pt x="241538" y="360601"/>
                  <a:pt x="274796" y="346789"/>
                </a:cubicBezTo>
                <a:cubicBezTo>
                  <a:pt x="285274" y="342424"/>
                  <a:pt x="295513" y="337106"/>
                  <a:pt x="304800" y="330676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4699000" y="4038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RWA 代幣化服務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99000" y="4445000"/>
            <a:ext cx="29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債券/基金代幣化發行、智能合約自動化配息、碎片化交易設計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對應 VASP「承銷」業務類型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0" y="3238500"/>
            <a:ext cx="3429000" cy="3302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2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119539"/>
                </a:moveTo>
                <a:lnTo>
                  <a:pt x="322739" y="195739"/>
                </a:lnTo>
                <a:cubicBezTo>
                  <a:pt x="312817" y="205661"/>
                  <a:pt x="296704" y="205661"/>
                  <a:pt x="286782" y="195739"/>
                </a:cubicBezTo>
                <a:cubicBezTo>
                  <a:pt x="276860" y="185817"/>
                  <a:pt x="276860" y="169704"/>
                  <a:pt x="286782" y="159782"/>
                </a:cubicBezTo>
                <a:lnTo>
                  <a:pt x="319643" y="127000"/>
                </a:ln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319643" y="76200"/>
                </a:lnTo>
                <a:lnTo>
                  <a:pt x="286782" y="43339"/>
                </a:lnTo>
                <a:cubicBezTo>
                  <a:pt x="276860" y="33417"/>
                  <a:pt x="276860" y="17304"/>
                  <a:pt x="286782" y="7382"/>
                </a:cubicBezTo>
                <a:cubicBezTo>
                  <a:pt x="296704" y="-2540"/>
                  <a:pt x="312817" y="-2540"/>
                  <a:pt x="322739" y="7382"/>
                </a:cubicBezTo>
                <a:lnTo>
                  <a:pt x="398939" y="83582"/>
                </a:lnTo>
                <a:cubicBezTo>
                  <a:pt x="408861" y="93504"/>
                  <a:pt x="408861" y="109617"/>
                  <a:pt x="398939" y="119539"/>
                </a:cubicBezTo>
                <a:close/>
                <a:moveTo>
                  <a:pt x="83582" y="398939"/>
                </a:moveTo>
                <a:lnTo>
                  <a:pt x="7382" y="322739"/>
                </a:lnTo>
                <a:cubicBezTo>
                  <a:pt x="-2540" y="312817"/>
                  <a:pt x="-2540" y="296704"/>
                  <a:pt x="7382" y="286782"/>
                </a:cubicBezTo>
                <a:lnTo>
                  <a:pt x="83582" y="210582"/>
                </a:lnTo>
                <a:cubicBezTo>
                  <a:pt x="93504" y="200660"/>
                  <a:pt x="109617" y="200660"/>
                  <a:pt x="119539" y="210582"/>
                </a:cubicBezTo>
                <a:cubicBezTo>
                  <a:pt x="129461" y="220504"/>
                  <a:pt x="129461" y="236617"/>
                  <a:pt x="119539" y="246539"/>
                </a:cubicBezTo>
                <a:lnTo>
                  <a:pt x="86757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cubicBezTo>
                  <a:pt x="406400" y="318849"/>
                  <a:pt x="395049" y="330200"/>
                  <a:pt x="381000" y="330200"/>
                </a:cubicBezTo>
                <a:lnTo>
                  <a:pt x="86757" y="330200"/>
                </a:lnTo>
                <a:lnTo>
                  <a:pt x="119618" y="363061"/>
                </a:lnTo>
                <a:cubicBezTo>
                  <a:pt x="129540" y="372983"/>
                  <a:pt x="129540" y="389096"/>
                  <a:pt x="119618" y="399018"/>
                </a:cubicBezTo>
                <a:cubicBezTo>
                  <a:pt x="109696" y="408940"/>
                  <a:pt x="93583" y="408940"/>
                  <a:pt x="83661" y="399018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4038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代幣化資產交易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0" y="4445000"/>
            <a:ext cx="29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次級市場做市、流動性提供、機構客戶經紀服務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對應 VASP「交易平台」業務類型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811000" y="3238500"/>
            <a:ext cx="3683000" cy="3302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65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1527" y="190500"/>
                </a:moveTo>
                <a:lnTo>
                  <a:pt x="237349" y="190500"/>
                </a:lnTo>
                <a:cubicBezTo>
                  <a:pt x="224861" y="190500"/>
                  <a:pt x="214771" y="179149"/>
                  <a:pt x="214771" y="165100"/>
                </a:cubicBezTo>
                <a:lnTo>
                  <a:pt x="214771" y="25400"/>
                </a:lnTo>
                <a:cubicBezTo>
                  <a:pt x="214771" y="11351"/>
                  <a:pt x="224931" y="-159"/>
                  <a:pt x="237278" y="1667"/>
                </a:cubicBezTo>
                <a:cubicBezTo>
                  <a:pt x="312773" y="12938"/>
                  <a:pt x="372604" y="80248"/>
                  <a:pt x="382623" y="165179"/>
                </a:cubicBezTo>
                <a:cubicBezTo>
                  <a:pt x="384246" y="179070"/>
                  <a:pt x="374015" y="190500"/>
                  <a:pt x="361527" y="190500"/>
                </a:cubicBezTo>
                <a:close/>
                <a:moveTo>
                  <a:pt x="157057" y="29528"/>
                </a:moveTo>
                <a:cubicBezTo>
                  <a:pt x="169827" y="26511"/>
                  <a:pt x="180904" y="38259"/>
                  <a:pt x="180904" y="52943"/>
                </a:cubicBezTo>
                <a:lnTo>
                  <a:pt x="180904" y="209550"/>
                </a:lnTo>
                <a:cubicBezTo>
                  <a:pt x="180904" y="213995"/>
                  <a:pt x="182316" y="218281"/>
                  <a:pt x="184785" y="221694"/>
                </a:cubicBezTo>
                <a:lnTo>
                  <a:pt x="277989" y="348218"/>
                </a:lnTo>
                <a:cubicBezTo>
                  <a:pt x="286244" y="359410"/>
                  <a:pt x="284480" y="376317"/>
                  <a:pt x="273121" y="383223"/>
                </a:cubicBezTo>
                <a:cubicBezTo>
                  <a:pt x="249061" y="397986"/>
                  <a:pt x="221474" y="406400"/>
                  <a:pt x="192193" y="406400"/>
                </a:cubicBezTo>
                <a:cubicBezTo>
                  <a:pt x="98707" y="406400"/>
                  <a:pt x="22860" y="321072"/>
                  <a:pt x="22860" y="215900"/>
                </a:cubicBezTo>
                <a:cubicBezTo>
                  <a:pt x="22860" y="124222"/>
                  <a:pt x="80363" y="47704"/>
                  <a:pt x="157057" y="29527"/>
                </a:cubicBezTo>
                <a:close/>
                <a:moveTo>
                  <a:pt x="337114" y="228600"/>
                </a:moveTo>
                <a:lnTo>
                  <a:pt x="382270" y="228600"/>
                </a:lnTo>
                <a:cubicBezTo>
                  <a:pt x="395323" y="228600"/>
                  <a:pt x="405765" y="241062"/>
                  <a:pt x="403084" y="255429"/>
                </a:cubicBezTo>
                <a:cubicBezTo>
                  <a:pt x="395887" y="293846"/>
                  <a:pt x="378389" y="327978"/>
                  <a:pt x="353977" y="354013"/>
                </a:cubicBezTo>
                <a:cubicBezTo>
                  <a:pt x="345299" y="363299"/>
                  <a:pt x="331682" y="361315"/>
                  <a:pt x="324062" y="350917"/>
                </a:cubicBezTo>
                <a:lnTo>
                  <a:pt x="264513" y="270193"/>
                </a:lnTo>
                <a:cubicBezTo>
                  <a:pt x="252307" y="253603"/>
                  <a:pt x="262819" y="228600"/>
                  <a:pt x="281869" y="228600"/>
                </a:cubicBezTo>
                <a:lnTo>
                  <a:pt x="337044" y="228600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12065000" y="40386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數位資產管理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065000" y="4445000"/>
            <a:ext cx="317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代幣化基金發行、STO 承銷、財富管理產品設計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對應 VASP「承銷+交換」業務類型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2000" y="685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差異化優勢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2000" y="7302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既有證券業務牌照與合規體系　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深厚機構客戶基礎與信託關係　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參與 RWA 代幣化小組的先發經驗　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與集保、櫃買、財金的緊密合作關係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金管會 VASP 專法草案, 內部策略分析, 2026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三階段實施路徑：18 個月從試點到規模化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24000" y="1778000"/>
            <a:ext cx="13208000" cy="0"/>
          </a:xfrm>
          <a:prstGeom prst="straightConnector1">
            <a:avLst/>
          </a:prstGeom>
          <a:noFill/>
          <a:ln w="38100">
            <a:solidFill>
              <a:srgbClr val="C8A96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22400" y="1676400"/>
            <a:ext cx="203200" cy="20320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6" name="Shape 4"/>
          <p:cNvSpPr/>
          <p:nvPr/>
        </p:nvSpPr>
        <p:spPr>
          <a:xfrm>
            <a:off x="7264400" y="1676400"/>
            <a:ext cx="203200" cy="20320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7" name="Shape 5"/>
          <p:cNvSpPr/>
          <p:nvPr/>
        </p:nvSpPr>
        <p:spPr>
          <a:xfrm>
            <a:off x="13106400" y="1676400"/>
            <a:ext cx="203200" cy="20320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3716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0-6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04000" y="13716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6-12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446000" y="13716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12-18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2000" y="2159000"/>
            <a:ext cx="4699000" cy="4953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3495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基礎建設期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16000" y="2857500"/>
            <a:ext cx="4191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監管申請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申請 VASP 保管業務許可，準備資本額與營業保證金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技術建置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建置機構級託管基礎設施（HSM、MPC 多簽錢包）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生態參與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參與 RWA 代幣平台專案小組，影響標準制定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團隊組建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組建跨部門數位資產團隊（10-15 人）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15000" y="2159000"/>
            <a:ext cx="4699000" cy="482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5" name="Text 13"/>
          <p:cNvSpPr/>
          <p:nvPr/>
        </p:nvSpPr>
        <p:spPr>
          <a:xfrm>
            <a:off x="5969000" y="23495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產品上線期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69000" y="2857500"/>
            <a:ext cx="419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託管上線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推出虛擬資產託管服務（機構客戶優先）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POC 落地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完成首筆債券代幣化 POC（配合金管會沙盒）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夥伴網絡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建立合作夥伴關係（集保、櫃買、區塊鏈技術商）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 目標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5+ 機構客戶、AUM NT$5 億+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68000" y="2159000"/>
            <a:ext cx="4826000" cy="482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2349500"/>
            <a:ext cx="431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規模擴張期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22000" y="2857500"/>
            <a:ext cx="431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交易平台上線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次級市場交易平台正式營運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產品擴展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代幣化基金產品發行、STO 承銷服務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跨境合作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對接新加坡/香港平台，參與跨境交易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 目標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 機構客戶、AUM NT$30 億+、收入貢獻 1%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組織架構與資源配置：數位資產事業部的設計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588000" y="1587500"/>
            <a:ext cx="5080000" cy="635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5" name="Text 3"/>
          <p:cNvSpPr/>
          <p:nvPr/>
        </p:nvSpPr>
        <p:spPr>
          <a:xfrm>
            <a:off x="5588000" y="1587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數位資產事業部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48000" y="2222500"/>
            <a:ext cx="0" cy="381000"/>
          </a:xfrm>
          <a:prstGeom prst="straightConnector1">
            <a:avLst/>
          </a:prstGeom>
          <a:noFill/>
          <a:ln w="25400">
            <a:solidFill>
              <a:srgbClr val="D5D2C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128000" y="2222500"/>
            <a:ext cx="0" cy="381000"/>
          </a:xfrm>
          <a:prstGeom prst="straightConnector1">
            <a:avLst/>
          </a:prstGeom>
          <a:noFill/>
          <a:ln w="25400">
            <a:solidFill>
              <a:srgbClr val="D5D2C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048000" y="2603500"/>
            <a:ext cx="5080000" cy="0"/>
          </a:xfrm>
          <a:prstGeom prst="straightConnector1">
            <a:avLst/>
          </a:prstGeom>
          <a:noFill/>
          <a:ln w="25400">
            <a:solidFill>
              <a:srgbClr val="D5D2C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62000" y="2730500"/>
            <a:ext cx="3429000" cy="3937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2946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47171" y="20638"/>
                </a:moveTo>
                <a:cubicBezTo>
                  <a:pt x="21153" y="20638"/>
                  <a:pt x="0" y="39147"/>
                  <a:pt x="0" y="61912"/>
                </a:cubicBezTo>
                <a:lnTo>
                  <a:pt x="0" y="103188"/>
                </a:lnTo>
                <a:cubicBezTo>
                  <a:pt x="0" y="125953"/>
                  <a:pt x="21153" y="144463"/>
                  <a:pt x="47171" y="144463"/>
                </a:cubicBezTo>
                <a:lnTo>
                  <a:pt x="283029" y="144463"/>
                </a:lnTo>
                <a:cubicBezTo>
                  <a:pt x="309047" y="144463"/>
                  <a:pt x="330200" y="125953"/>
                  <a:pt x="330200" y="103188"/>
                </a:cubicBezTo>
                <a:lnTo>
                  <a:pt x="330200" y="61912"/>
                </a:lnTo>
                <a:cubicBezTo>
                  <a:pt x="330200" y="39147"/>
                  <a:pt x="309047" y="20638"/>
                  <a:pt x="283029" y="20638"/>
                </a:cubicBezTo>
                <a:lnTo>
                  <a:pt x="47171" y="20638"/>
                </a:lnTo>
                <a:close/>
                <a:moveTo>
                  <a:pt x="206375" y="67072"/>
                </a:moveTo>
                <a:cubicBezTo>
                  <a:pt x="216138" y="67072"/>
                  <a:pt x="224064" y="74007"/>
                  <a:pt x="224064" y="82550"/>
                </a:cubicBezTo>
                <a:cubicBezTo>
                  <a:pt x="224064" y="91093"/>
                  <a:pt x="216138" y="98028"/>
                  <a:pt x="206375" y="98028"/>
                </a:cubicBezTo>
                <a:cubicBezTo>
                  <a:pt x="196612" y="98028"/>
                  <a:pt x="188686" y="91093"/>
                  <a:pt x="188686" y="82550"/>
                </a:cubicBezTo>
                <a:cubicBezTo>
                  <a:pt x="188686" y="74007"/>
                  <a:pt x="196612" y="67072"/>
                  <a:pt x="206375" y="67072"/>
                </a:cubicBezTo>
                <a:close/>
                <a:moveTo>
                  <a:pt x="247650" y="82550"/>
                </a:moveTo>
                <a:cubicBezTo>
                  <a:pt x="247650" y="74007"/>
                  <a:pt x="255576" y="67072"/>
                  <a:pt x="265339" y="67072"/>
                </a:cubicBezTo>
                <a:cubicBezTo>
                  <a:pt x="275102" y="67072"/>
                  <a:pt x="283029" y="74007"/>
                  <a:pt x="283029" y="82550"/>
                </a:cubicBezTo>
                <a:cubicBezTo>
                  <a:pt x="283029" y="91093"/>
                  <a:pt x="275102" y="98028"/>
                  <a:pt x="265339" y="98028"/>
                </a:cubicBezTo>
                <a:cubicBezTo>
                  <a:pt x="255576" y="98028"/>
                  <a:pt x="247650" y="91093"/>
                  <a:pt x="247650" y="82550"/>
                </a:cubicBezTo>
                <a:close/>
                <a:moveTo>
                  <a:pt x="47171" y="185738"/>
                </a:moveTo>
                <a:cubicBezTo>
                  <a:pt x="21153" y="185738"/>
                  <a:pt x="0" y="204247"/>
                  <a:pt x="0" y="227013"/>
                </a:cubicBezTo>
                <a:lnTo>
                  <a:pt x="0" y="268288"/>
                </a:lnTo>
                <a:cubicBezTo>
                  <a:pt x="0" y="291053"/>
                  <a:pt x="21153" y="309563"/>
                  <a:pt x="47171" y="309563"/>
                </a:cubicBezTo>
                <a:lnTo>
                  <a:pt x="283029" y="309563"/>
                </a:lnTo>
                <a:cubicBezTo>
                  <a:pt x="309047" y="309563"/>
                  <a:pt x="330200" y="291053"/>
                  <a:pt x="330200" y="268288"/>
                </a:cubicBezTo>
                <a:lnTo>
                  <a:pt x="330200" y="227013"/>
                </a:lnTo>
                <a:cubicBezTo>
                  <a:pt x="330200" y="204247"/>
                  <a:pt x="309047" y="185738"/>
                  <a:pt x="283029" y="185738"/>
                </a:cubicBezTo>
                <a:lnTo>
                  <a:pt x="47171" y="185738"/>
                </a:lnTo>
                <a:close/>
                <a:moveTo>
                  <a:pt x="206375" y="232172"/>
                </a:moveTo>
                <a:cubicBezTo>
                  <a:pt x="216138" y="232172"/>
                  <a:pt x="224064" y="239107"/>
                  <a:pt x="224064" y="247650"/>
                </a:cubicBezTo>
                <a:cubicBezTo>
                  <a:pt x="224064" y="256193"/>
                  <a:pt x="216138" y="263128"/>
                  <a:pt x="206375" y="263128"/>
                </a:cubicBezTo>
                <a:cubicBezTo>
                  <a:pt x="196612" y="263128"/>
                  <a:pt x="188686" y="256193"/>
                  <a:pt x="188686" y="247650"/>
                </a:cubicBezTo>
                <a:cubicBezTo>
                  <a:pt x="188686" y="239107"/>
                  <a:pt x="196612" y="232172"/>
                  <a:pt x="206375" y="232172"/>
                </a:cubicBezTo>
                <a:close/>
                <a:moveTo>
                  <a:pt x="247650" y="247650"/>
                </a:moveTo>
                <a:cubicBezTo>
                  <a:pt x="247650" y="239107"/>
                  <a:pt x="255576" y="232172"/>
                  <a:pt x="265339" y="232172"/>
                </a:cubicBezTo>
                <a:cubicBezTo>
                  <a:pt x="275102" y="232172"/>
                  <a:pt x="283029" y="239107"/>
                  <a:pt x="283029" y="247650"/>
                </a:cubicBezTo>
                <a:cubicBezTo>
                  <a:pt x="283029" y="256193"/>
                  <a:pt x="275102" y="263128"/>
                  <a:pt x="265339" y="263128"/>
                </a:cubicBezTo>
                <a:cubicBezTo>
                  <a:pt x="255576" y="263128"/>
                  <a:pt x="247650" y="256193"/>
                  <a:pt x="247650" y="247650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292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託管營運中心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16000" y="33655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編制 6-8 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3746500"/>
            <a:ext cx="2921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負責錢包管理、私鑰安全、資產結算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關鍵人才：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區塊鏈工程師、資安專家、結算操作員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45000" y="2730500"/>
            <a:ext cx="3429000" cy="3937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5" name="Shape 13"/>
          <p:cNvSpPr/>
          <p:nvPr/>
        </p:nvSpPr>
        <p:spPr>
          <a:xfrm>
            <a:off x="4699000" y="2946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51863" y="247650"/>
                </a:moveTo>
                <a:cubicBezTo>
                  <a:pt x="258141" y="233268"/>
                  <a:pt x="270695" y="220241"/>
                  <a:pt x="284883" y="209019"/>
                </a:cubicBezTo>
                <a:cubicBezTo>
                  <a:pt x="313002" y="186834"/>
                  <a:pt x="330200" y="156845"/>
                  <a:pt x="330200" y="123825"/>
                </a:cubicBezTo>
                <a:cubicBezTo>
                  <a:pt x="330200" y="55463"/>
                  <a:pt x="256249" y="0"/>
                  <a:pt x="165100" y="0"/>
                </a:cubicBezTo>
                <a:cubicBezTo>
                  <a:pt x="73951" y="0"/>
                  <a:pt x="0" y="55463"/>
                  <a:pt x="0" y="123825"/>
                </a:cubicBezTo>
                <a:cubicBezTo>
                  <a:pt x="0" y="156845"/>
                  <a:pt x="17198" y="186834"/>
                  <a:pt x="45317" y="209019"/>
                </a:cubicBezTo>
                <a:cubicBezTo>
                  <a:pt x="59505" y="220241"/>
                  <a:pt x="72145" y="233268"/>
                  <a:pt x="78337" y="247650"/>
                </a:cubicBezTo>
                <a:lnTo>
                  <a:pt x="251777" y="247650"/>
                </a:lnTo>
                <a:close/>
                <a:moveTo>
                  <a:pt x="247650" y="278606"/>
                </a:moveTo>
                <a:lnTo>
                  <a:pt x="82550" y="278606"/>
                </a:lnTo>
                <a:lnTo>
                  <a:pt x="82550" y="288925"/>
                </a:lnTo>
                <a:cubicBezTo>
                  <a:pt x="82550" y="317431"/>
                  <a:pt x="113334" y="340519"/>
                  <a:pt x="151342" y="340519"/>
                </a:cubicBezTo>
                <a:lnTo>
                  <a:pt x="178858" y="340519"/>
                </a:lnTo>
                <a:cubicBezTo>
                  <a:pt x="216866" y="340519"/>
                  <a:pt x="247650" y="317431"/>
                  <a:pt x="247650" y="288925"/>
                </a:cubicBezTo>
                <a:lnTo>
                  <a:pt x="247650" y="278606"/>
                </a:lnTo>
                <a:close/>
                <a:moveTo>
                  <a:pt x="158221" y="72231"/>
                </a:moveTo>
                <a:cubicBezTo>
                  <a:pt x="123997" y="72231"/>
                  <a:pt x="96308" y="92998"/>
                  <a:pt x="96308" y="118666"/>
                </a:cubicBezTo>
                <a:cubicBezTo>
                  <a:pt x="96308" y="127243"/>
                  <a:pt x="87107" y="134144"/>
                  <a:pt x="75671" y="134144"/>
                </a:cubicBezTo>
                <a:cubicBezTo>
                  <a:pt x="64234" y="134144"/>
                  <a:pt x="55033" y="127243"/>
                  <a:pt x="55033" y="118666"/>
                </a:cubicBezTo>
                <a:cubicBezTo>
                  <a:pt x="55033" y="75907"/>
                  <a:pt x="101210" y="41275"/>
                  <a:pt x="158221" y="41275"/>
                </a:cubicBezTo>
                <a:cubicBezTo>
                  <a:pt x="169657" y="41275"/>
                  <a:pt x="178858" y="48176"/>
                  <a:pt x="178858" y="56753"/>
                </a:cubicBezTo>
                <a:cubicBezTo>
                  <a:pt x="178858" y="65331"/>
                  <a:pt x="169657" y="72231"/>
                  <a:pt x="158221" y="72231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5143500" y="292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產品發展中心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99000" y="33655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編制 4-6 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99000" y="3746500"/>
            <a:ext cx="2921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負責 RWA 產品設計、智能合約開發、發行服務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關鍵人才：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產品經理、智能合約工程師、結構化金融專家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0" y="2730500"/>
            <a:ext cx="3429000" cy="3937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0" name="Shape 18"/>
          <p:cNvSpPr/>
          <p:nvPr/>
        </p:nvSpPr>
        <p:spPr>
          <a:xfrm>
            <a:off x="8382000" y="2946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41275" y="41275"/>
                </a:moveTo>
                <a:cubicBezTo>
                  <a:pt x="41275" y="29860"/>
                  <a:pt x="32053" y="20638"/>
                  <a:pt x="20638" y="20638"/>
                </a:cubicBezTo>
                <a:cubicBezTo>
                  <a:pt x="9222" y="20638"/>
                  <a:pt x="0" y="29860"/>
                  <a:pt x="0" y="41275"/>
                </a:cubicBezTo>
                <a:lnTo>
                  <a:pt x="0" y="257969"/>
                </a:lnTo>
                <a:cubicBezTo>
                  <a:pt x="0" y="286474"/>
                  <a:pt x="23088" y="309563"/>
                  <a:pt x="51594" y="309563"/>
                </a:cubicBezTo>
                <a:lnTo>
                  <a:pt x="309563" y="309563"/>
                </a:lnTo>
                <a:cubicBezTo>
                  <a:pt x="320978" y="309563"/>
                  <a:pt x="330200" y="300340"/>
                  <a:pt x="330200" y="288925"/>
                </a:cubicBezTo>
                <a:cubicBezTo>
                  <a:pt x="330200" y="277510"/>
                  <a:pt x="320978" y="268288"/>
                  <a:pt x="309563" y="268288"/>
                </a:cubicBezTo>
                <a:lnTo>
                  <a:pt x="51594" y="268288"/>
                </a:lnTo>
                <a:cubicBezTo>
                  <a:pt x="45918" y="268288"/>
                  <a:pt x="41275" y="263644"/>
                  <a:pt x="41275" y="257969"/>
                </a:cubicBezTo>
                <a:lnTo>
                  <a:pt x="41275" y="41275"/>
                </a:lnTo>
                <a:close/>
                <a:moveTo>
                  <a:pt x="303500" y="97125"/>
                </a:moveTo>
                <a:cubicBezTo>
                  <a:pt x="311562" y="89064"/>
                  <a:pt x="311562" y="75972"/>
                  <a:pt x="303500" y="67910"/>
                </a:cubicBezTo>
                <a:cubicBezTo>
                  <a:pt x="295439" y="59849"/>
                  <a:pt x="282347" y="59849"/>
                  <a:pt x="274285" y="67910"/>
                </a:cubicBezTo>
                <a:lnTo>
                  <a:pt x="206375" y="135885"/>
                </a:lnTo>
                <a:lnTo>
                  <a:pt x="169356" y="98931"/>
                </a:lnTo>
                <a:cubicBezTo>
                  <a:pt x="161295" y="90869"/>
                  <a:pt x="148203" y="90869"/>
                  <a:pt x="140142" y="98931"/>
                </a:cubicBezTo>
                <a:lnTo>
                  <a:pt x="78229" y="160844"/>
                </a:lnTo>
                <a:cubicBezTo>
                  <a:pt x="70168" y="168905"/>
                  <a:pt x="70168" y="181997"/>
                  <a:pt x="78229" y="190058"/>
                </a:cubicBezTo>
                <a:cubicBezTo>
                  <a:pt x="86291" y="198120"/>
                  <a:pt x="99382" y="198120"/>
                  <a:pt x="107444" y="190058"/>
                </a:cubicBezTo>
                <a:lnTo>
                  <a:pt x="154781" y="142721"/>
                </a:lnTo>
                <a:lnTo>
                  <a:pt x="191800" y="179740"/>
                </a:lnTo>
                <a:cubicBezTo>
                  <a:pt x="199861" y="187801"/>
                  <a:pt x="212953" y="187801"/>
                  <a:pt x="221015" y="179740"/>
                </a:cubicBezTo>
                <a:lnTo>
                  <a:pt x="303565" y="97190"/>
                </a:ln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8826500" y="292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交易與做市中心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82000" y="33655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編制 3-5 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82000" y="3746500"/>
            <a:ext cx="2921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負責次級市場流動性、機構經紀服務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關鍵人才：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交易員、做市專家、機構銷售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811000" y="2730500"/>
            <a:ext cx="3683000" cy="3937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65000" y="2946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98120" y="20638"/>
                </a:moveTo>
                <a:lnTo>
                  <a:pt x="264160" y="20638"/>
                </a:lnTo>
                <a:cubicBezTo>
                  <a:pt x="273292" y="20638"/>
                  <a:pt x="280670" y="29860"/>
                  <a:pt x="280670" y="41275"/>
                </a:cubicBezTo>
                <a:cubicBezTo>
                  <a:pt x="280670" y="52690"/>
                  <a:pt x="273292" y="61912"/>
                  <a:pt x="264160" y="61912"/>
                </a:cubicBezTo>
                <a:lnTo>
                  <a:pt x="205550" y="61912"/>
                </a:lnTo>
                <a:cubicBezTo>
                  <a:pt x="202867" y="78551"/>
                  <a:pt x="193735" y="92288"/>
                  <a:pt x="181610" y="98867"/>
                </a:cubicBezTo>
                <a:lnTo>
                  <a:pt x="181610" y="288925"/>
                </a:lnTo>
                <a:lnTo>
                  <a:pt x="264160" y="288925"/>
                </a:lnTo>
                <a:cubicBezTo>
                  <a:pt x="273292" y="288925"/>
                  <a:pt x="280670" y="298147"/>
                  <a:pt x="280670" y="309563"/>
                </a:cubicBezTo>
                <a:cubicBezTo>
                  <a:pt x="280670" y="320978"/>
                  <a:pt x="273292" y="330200"/>
                  <a:pt x="264160" y="330200"/>
                </a:cubicBezTo>
                <a:lnTo>
                  <a:pt x="66040" y="330200"/>
                </a:lnTo>
                <a:cubicBezTo>
                  <a:pt x="56908" y="330200"/>
                  <a:pt x="49530" y="320978"/>
                  <a:pt x="49530" y="309563"/>
                </a:cubicBezTo>
                <a:cubicBezTo>
                  <a:pt x="49530" y="298147"/>
                  <a:pt x="56908" y="288925"/>
                  <a:pt x="66040" y="288925"/>
                </a:cubicBezTo>
                <a:lnTo>
                  <a:pt x="148590" y="288925"/>
                </a:lnTo>
                <a:lnTo>
                  <a:pt x="148590" y="98867"/>
                </a:lnTo>
                <a:cubicBezTo>
                  <a:pt x="136465" y="92224"/>
                  <a:pt x="127333" y="78487"/>
                  <a:pt x="124651" y="61913"/>
                </a:cubicBezTo>
                <a:lnTo>
                  <a:pt x="66040" y="61912"/>
                </a:lnTo>
                <a:cubicBezTo>
                  <a:pt x="56908" y="61912"/>
                  <a:pt x="49530" y="52690"/>
                  <a:pt x="49530" y="41275"/>
                </a:cubicBezTo>
                <a:cubicBezTo>
                  <a:pt x="49530" y="29860"/>
                  <a:pt x="56908" y="20638"/>
                  <a:pt x="66040" y="20638"/>
                </a:cubicBezTo>
                <a:lnTo>
                  <a:pt x="132080" y="20638"/>
                </a:lnTo>
                <a:cubicBezTo>
                  <a:pt x="139613" y="8126"/>
                  <a:pt x="151582" y="0"/>
                  <a:pt x="165100" y="0"/>
                </a:cubicBezTo>
                <a:cubicBezTo>
                  <a:pt x="178618" y="0"/>
                  <a:pt x="190587" y="8126"/>
                  <a:pt x="198120" y="20638"/>
                </a:cubicBezTo>
                <a:close/>
                <a:moveTo>
                  <a:pt x="226806" y="206375"/>
                </a:moveTo>
                <a:lnTo>
                  <a:pt x="301514" y="206375"/>
                </a:lnTo>
                <a:lnTo>
                  <a:pt x="264160" y="126276"/>
                </a:lnTo>
                <a:lnTo>
                  <a:pt x="226806" y="206375"/>
                </a:lnTo>
                <a:close/>
                <a:moveTo>
                  <a:pt x="264160" y="268288"/>
                </a:moveTo>
                <a:cubicBezTo>
                  <a:pt x="231708" y="268288"/>
                  <a:pt x="204724" y="246360"/>
                  <a:pt x="199152" y="217403"/>
                </a:cubicBezTo>
                <a:cubicBezTo>
                  <a:pt x="197810" y="210309"/>
                  <a:pt x="199668" y="203021"/>
                  <a:pt x="202609" y="196701"/>
                </a:cubicBezTo>
                <a:lnTo>
                  <a:pt x="251726" y="91450"/>
                </a:lnTo>
                <a:cubicBezTo>
                  <a:pt x="254306" y="85904"/>
                  <a:pt x="259052" y="82550"/>
                  <a:pt x="264160" y="82550"/>
                </a:cubicBezTo>
                <a:cubicBezTo>
                  <a:pt x="269268" y="82550"/>
                  <a:pt x="274014" y="85968"/>
                  <a:pt x="276594" y="91450"/>
                </a:cubicBezTo>
                <a:lnTo>
                  <a:pt x="325711" y="196701"/>
                </a:lnTo>
                <a:cubicBezTo>
                  <a:pt x="328652" y="203021"/>
                  <a:pt x="330510" y="210309"/>
                  <a:pt x="329168" y="217403"/>
                </a:cubicBezTo>
                <a:cubicBezTo>
                  <a:pt x="323596" y="246296"/>
                  <a:pt x="296612" y="268288"/>
                  <a:pt x="264160" y="268288"/>
                </a:cubicBezTo>
                <a:close/>
                <a:moveTo>
                  <a:pt x="65421" y="126276"/>
                </a:moveTo>
                <a:lnTo>
                  <a:pt x="28067" y="206375"/>
                </a:lnTo>
                <a:lnTo>
                  <a:pt x="102826" y="206375"/>
                </a:lnTo>
                <a:lnTo>
                  <a:pt x="65421" y="126276"/>
                </a:lnTo>
                <a:close/>
                <a:moveTo>
                  <a:pt x="464" y="217403"/>
                </a:moveTo>
                <a:cubicBezTo>
                  <a:pt x="-877" y="210309"/>
                  <a:pt x="980" y="203021"/>
                  <a:pt x="3921" y="196701"/>
                </a:cubicBezTo>
                <a:lnTo>
                  <a:pt x="53038" y="91450"/>
                </a:lnTo>
                <a:cubicBezTo>
                  <a:pt x="55618" y="85904"/>
                  <a:pt x="60365" y="82550"/>
                  <a:pt x="65472" y="82550"/>
                </a:cubicBezTo>
                <a:cubicBezTo>
                  <a:pt x="70580" y="82550"/>
                  <a:pt x="75327" y="85968"/>
                  <a:pt x="77907" y="91450"/>
                </a:cubicBezTo>
                <a:lnTo>
                  <a:pt x="127024" y="196701"/>
                </a:lnTo>
                <a:cubicBezTo>
                  <a:pt x="129965" y="203021"/>
                  <a:pt x="131822" y="210309"/>
                  <a:pt x="130481" y="217403"/>
                </a:cubicBezTo>
                <a:cubicBezTo>
                  <a:pt x="124908" y="246296"/>
                  <a:pt x="97925" y="268288"/>
                  <a:pt x="65472" y="268288"/>
                </a:cubicBezTo>
                <a:cubicBezTo>
                  <a:pt x="33020" y="268288"/>
                  <a:pt x="6036" y="246360"/>
                  <a:pt x="464" y="217403"/>
                </a:cubicBezTo>
                <a:close/>
              </a:path>
            </a:pathLst>
          </a:custGeom>
          <a:solidFill>
            <a:srgbClr val="C8A96E"/>
          </a:solidFill>
          <a:ln/>
        </p:spPr>
      </p:sp>
      <p:sp>
        <p:nvSpPr>
          <p:cNvPr id="26" name="Text 24"/>
          <p:cNvSpPr/>
          <p:nvPr/>
        </p:nvSpPr>
        <p:spPr>
          <a:xfrm>
            <a:off x="12509500" y="2921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法規合規中心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065000" y="3365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編制 3-4 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65000" y="3746500"/>
            <a:ext cx="3175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負責監管對接、AML/KYC、風險管理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關鍵人才：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法規專家、合規官、風險管理師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000" y="7048500"/>
            <a:ext cx="14732000" cy="9525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7112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總編制 16-23 人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|　首年投資約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NT$8,000-12,000 萬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（含系統建置、人才招募、監管申請）　|　預期 3 年內達損益平衡　|　第 5 年貢獻集團收入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3-5%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風險管理與合規框架：五大風險維度的防控體系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5461000"/>
        </p:xfrm>
        <a:graphic>
          <a:graphicData uri="http://schemas.openxmlformats.org/drawingml/2006/table">
            <a:tbl>
              <a:tblPr/>
              <a:tblGrid>
                <a:gridCol w="2209800"/>
                <a:gridCol w="4419600"/>
                <a:gridCol w="5156200"/>
                <a:gridCol w="2946400"/>
              </a:tblGrid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3F0E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風險類型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3F0E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風險描述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3F0E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防控措施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3F0E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責任單位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8A96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</a:t>
                      </a:r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監管風險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VASP 專法子法尚未公布，法規路徑存在不確定性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滾動式合規策略，參與公聽會與產業公會，預留法規調整彈性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法規合規中心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8A96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</a:t>
                      </a:r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技術風險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私鑰遺失、智能合約漏洞、系統入侵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MPC 多簽、程式碼審計、漏洞賞金計畫、保險覆蓋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託管營運中心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8A96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</a:t>
                      </a:r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營運風險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7x24 營運要求，系統停機可能導致資產損失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異地備援、SOC 2 Type II 認證、BCP/DRP 演練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託管營運中心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8A96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</a:t>
                      </a:r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市場風險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虛擬資產價格波動、流動性風險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嚴格區分託管與自有資產、限制高風險資產類別、停損機制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交易與做市中心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8A96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</a:t>
                      </a:r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聲譽風險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客戶資產損失、合規事件負面報導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客戶教育機制、透明揭露、客訴處理專線、媒體應對預案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法規合規中心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730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合規架構對應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62000" y="7747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FATF 建議　→　旅行規則（NT$30,000 門檻）　→　洗錢防制法　→　證交法　→　VASP 專法九大子法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金管會 VASP 專法草案, FATF Recommendation 16, 內部風險管理框架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032000"/>
            <a:ext cx="2540000" cy="381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3495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行動呼籲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413000" y="3302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RWA 代幣化是台灣證券業未來十年的戰略級機遇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48000" y="4064000"/>
            <a:ext cx="1016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以託管為基石、以 RWA 為藍海，搶佔先發優勢，成為台灣數位資產生態的領航者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78000" y="4953000"/>
            <a:ext cx="12700000" cy="177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7" name="Text 5"/>
          <p:cNvSpPr/>
          <p:nvPr/>
        </p:nvSpPr>
        <p:spPr>
          <a:xfrm>
            <a:off x="2159000" y="5080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30500" y="5080000"/>
            <a:ext cx="222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董事會策略決議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3000" y="5080000"/>
            <a:ext cx="571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88000" y="5080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59500" y="5080000"/>
            <a:ext cx="222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數位資產事業部籌備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5080000"/>
            <a:ext cx="571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17000" y="5080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588500" y="5080000"/>
            <a:ext cx="222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VASP 許可申請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11000" y="5080000"/>
            <a:ext cx="571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446000" y="5080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8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017500" y="5080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3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技術招標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59000" y="5715000"/>
            <a:ext cx="1193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建議於董事會通過後 30 日內啟動事業部籌備，60 日內提交 VASP 許可申請，90 日內完成技術平台招標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18000" y="736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8D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CONFIDENTIAL — 僅供內部決策參考 | 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虛擬資產業務策略規劃 — RWA 代幣化業務佈局與落地路徑</dc:title>
  <dc:subject>虛擬資產業務策略規劃 — RWA 代幣化業務佈局與落地路徑</dc:subject>
  <dc:creator>Kimi</dc:creator>
  <cp:lastModifiedBy>Kimi</cp:lastModifiedBy>
  <cp:revision>1</cp:revision>
  <dcterms:created xsi:type="dcterms:W3CDTF">2026-07-19T11:03:02Z</dcterms:created>
  <dcterms:modified xsi:type="dcterms:W3CDTF">2026-07-19T11:03:02Z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{"Label":"虛擬資產業務策略規劃 — RWA 代幣化業務佈局與落地路徑","ContentProducer":"001191110108MACG2KBH8F10000","ProduceID":"19f60c85-98a2-8d22-8000-0000fd988315","ReservedCode1":"","ContentPropagator":"001191110108MACG2KBH8F20000","PropagateID":"19f60be1-1372-87b9-8000-0961d794faa5","ReservedCode2":""}</vt:lpwstr>
  </property>
</Properties>
</file>