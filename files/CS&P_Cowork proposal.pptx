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8f23d23a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8f23d23a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8f23d23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8f23d23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8f23d23a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8f23d23a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7d4ecd71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87d4ecd71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7e9f8aa5_15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87e9f8aa5_15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7e9f8aa5_15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87e9f8aa5_15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87e9f8aa5_15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87e9f8aa5_15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88f23d23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88f23d23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87d4ecd7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f87d4ecd7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7d4ecd7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f87d4ecd7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d4ecd71_26_0)">
  <p:cSld name="Generated (g3f87d4ecd71_2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Copilot Cowork 適合優先導入對象：核心知識工作者場景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14259"/>
          <a:stretch/>
        </p:blipFill>
        <p:spPr>
          <a:xfrm>
            <a:off x="0" y="733500"/>
            <a:ext cx="9144000" cy="4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0" y="733500"/>
            <a:ext cx="9144000" cy="441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28600" y="914400"/>
            <a:ext cx="5600700" cy="3410100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5"/>
          <p:cNvCxnSpPr/>
          <p:nvPr/>
        </p:nvCxnSpPr>
        <p:spPr>
          <a:xfrm>
            <a:off x="228600" y="1314450"/>
            <a:ext cx="56007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C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5"/>
          <p:cNvSpPr txBox="1"/>
          <p:nvPr/>
        </p:nvSpPr>
        <p:spPr>
          <a:xfrm>
            <a:off x="381000" y="1028700"/>
            <a:ext cx="529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250">
                <a:solidFill>
                  <a:srgbClr val="1C3A5F"/>
                </a:solidFill>
                <a:latin typeface="Arial"/>
                <a:ea typeface="Arial"/>
                <a:cs typeface="Arial"/>
                <a:sym typeface="Arial"/>
              </a:rPr>
              <a:t>真正優秀的 Cowork 使用場景 (Use Case) 應具備之六大特徵</a:t>
            </a:r>
            <a:endParaRPr b="1" sz="1250">
              <a:solidFill>
                <a:srgbClr val="1C3A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381000" y="1466850"/>
            <a:ext cx="2533650" cy="609600"/>
            <a:chOff x="0" y="0"/>
            <a:chExt cx="2533650" cy="6096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多步驟協作 (Multi-step)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非單一 prompt 可完成，需分解為多階段的複雜任務鏈。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2971800" y="1466850"/>
            <a:ext cx="2724150" cy="609600"/>
            <a:chOff x="0" y="0"/>
            <a:chExt cx="2724150" cy="6096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跨上下文 (Cross-context)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整合 Email, Teams, Files, 行事曆及企業內部系統資訊。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381000" y="2228850"/>
            <a:ext cx="2533650" cy="609600"/>
            <a:chOff x="0" y="0"/>
            <a:chExt cx="2533650" cy="6096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重度依賴判斷 (Judgment-heavy)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處理過程需仰賴邏輯推理與判斷，而非單純套用固定規則。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2971800" y="2228850"/>
            <a:ext cx="2724150" cy="609600"/>
            <a:chOff x="0" y="0"/>
            <a:chExt cx="2724150" cy="6096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產出導向 (Deliverable-oriented)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有明確交付物 (如簡報、報告、Excel 數據表或系統更新)。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381000" y="2990850"/>
            <a:ext cx="2533650" cy="609600"/>
            <a:chOff x="0" y="0"/>
            <a:chExt cx="2533650" cy="6096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人工覆核 (Human-reviewable)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AI 執行 80–95% 的前置作業，最終由人工進行審查與決策。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2971800" y="2990850"/>
            <a:ext cx="2724150" cy="609600"/>
            <a:chOff x="0" y="0"/>
            <a:chExt cx="2724150" cy="6096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週期或事件觸發 (Recurrent)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可設定於特定時間 (週/月) 或事件 (收信、會前) 自動執行。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5981700" y="914400"/>
            <a:ext cx="2933700" cy="16191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5"/>
          <p:cNvCxnSpPr/>
          <p:nvPr/>
        </p:nvCxnSpPr>
        <p:spPr>
          <a:xfrm>
            <a:off x="5981700" y="1314450"/>
            <a:ext cx="29337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 txBox="1"/>
          <p:nvPr/>
        </p:nvSpPr>
        <p:spPr>
          <a:xfrm>
            <a:off x="6134100" y="1028700"/>
            <a:ext cx="262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優先排除的三類不適用場景</a:t>
            </a:r>
            <a:endParaRPr b="1" sz="10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6134100" y="1466850"/>
            <a:ext cx="26289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單一 Prompt 即可完成之工作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直接使用 Copilot Chat 即可解決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高度確定性、固定流程之工作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使用 RPA / Specialized Agent 更合算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高風險且不可逆之關鍵決策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不適合作為首批 Cowork 試點項目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981700" y="2705100"/>
            <a:ext cx="2933700" cy="1619100"/>
          </a:xfrm>
          <a:prstGeom prst="roundRect">
            <a:avLst>
              <a:gd fmla="val 2352" name="adj"/>
            </a:avLst>
          </a:prstGeom>
          <a:solidFill>
            <a:srgbClr val="1C3A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134100" y="2838450"/>
            <a:ext cx="26289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微軟導入核心原則：Lean before agents</a:t>
            </a:r>
            <a:endParaRPr b="1" sz="11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在自動化之前，必須「重新設計」工作流。切忌將 AI 直接疊加在原本就混亂無效率的既有流程上。</a:t>
            </a:r>
            <a:endParaRPr b="0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b="1" lang="en" sz="9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實例研究：</a:t>
            </a:r>
            <a:r>
              <a:rPr b="0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雲端供應鏈團隊在導入 70+ 個智慧 Agent 之前，先將 6 個端到端工作流進行了深度簡化與再造。</a:t>
            </a:r>
            <a:endParaRPr b="0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28600" y="4457700"/>
            <a:ext cx="8686800" cy="342900"/>
          </a:xfrm>
          <a:prstGeom prst="roundRect">
            <a:avLst>
              <a:gd fmla="val 11111" name="adj"/>
            </a:avLst>
          </a:prstGeom>
          <a:solidFill>
            <a:srgbClr val="1C3A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381000" y="4543425"/>
            <a:ext cx="838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心法：先精簡流程 (Lean)，再建立協作 (Cowork) ✕ 聚焦高判斷與跨情境，排除單一與低價值工作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優質 Cowork 案例的特徵與導入先決原則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285750" y="9525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依據 Cowork 適用特徵，建議第一波聚焦 4 類高價值知識工作場景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285750" y="1047750"/>
            <a:ext cx="5810100" cy="228600"/>
            <a:chOff x="285750" y="1047750"/>
            <a:chExt cx="5810100" cy="228600"/>
          </a:xfrm>
        </p:grpSpPr>
        <p:sp>
          <p:nvSpPr>
            <p:cNvPr id="111" name="Google Shape;111;p16"/>
            <p:cNvSpPr/>
            <p:nvPr/>
          </p:nvSpPr>
          <p:spPr>
            <a:xfrm>
              <a:off x="28575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8575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研究 / 準備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228600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228600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協作 / 決策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428625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428625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執行 / 推進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6"/>
          <p:cNvSpPr txBox="1"/>
          <p:nvPr/>
        </p:nvSpPr>
        <p:spPr>
          <a:xfrm>
            <a:off x="285750" y="4000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選取涵蓋研究、會議、專案管理與知識調用的代表性場景，後續逐一驗證其業務價值與導入可行性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285750" y="1381125"/>
            <a:ext cx="5810100" cy="1524000"/>
            <a:chOff x="285750" y="1381125"/>
            <a:chExt cx="5810100" cy="1524000"/>
          </a:xfrm>
        </p:grpSpPr>
        <p:sp>
          <p:nvSpPr>
            <p:cNvPr id="119" name="Google Shape;119;p16"/>
            <p:cNvSpPr/>
            <p:nvPr/>
          </p:nvSpPr>
          <p:spPr>
            <a:xfrm>
              <a:off x="28575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Research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找得到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🔎 搜尋 / 閱讀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📊 分析 / 初稿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228600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38125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Meeting Record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記錄得到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🎙 討論 / 決議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📝 Action Item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28625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38150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PMO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追得到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📍 進度 / Owner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⚠️ Risk / Status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285750" y="809625"/>
            <a:ext cx="638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前述條件並非抽象原則，而可落到知識工作者每天實際發生的四類高頻工作。</a:t>
            </a:r>
            <a:endParaRPr b="1" sz="8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6286500" y="1047752"/>
            <a:ext cx="2571900" cy="3048608"/>
            <a:chOff x="6286500" y="1047750"/>
            <a:chExt cx="2571900" cy="3286200"/>
          </a:xfrm>
        </p:grpSpPr>
        <p:sp>
          <p:nvSpPr>
            <p:cNvPr id="127" name="Google Shape;127;p16"/>
            <p:cNvSpPr/>
            <p:nvPr/>
          </p:nvSpPr>
          <p:spPr>
            <a:xfrm>
              <a:off x="6286500" y="1047750"/>
              <a:ext cx="2571900" cy="3286200"/>
            </a:xfrm>
            <a:prstGeom prst="roundRect">
              <a:avLst>
                <a:gd fmla="val 4444" name="adj"/>
              </a:avLst>
            </a:prstGeom>
            <a:solidFill>
              <a:srgbClr val="EBF3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6457950" y="1238250"/>
              <a:ext cx="22290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💡 後續將逐案回答 3 個問題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① Value｜為何值得做？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能消除哪些痛點、釋放哪些高價值工時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② Cowork Design｜如何做到？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需要哪些 Context, Skills, Trigger 與 Output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③ Transformation｜工作如何改變？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用 As-is → To-be 具體呈現導入前後流程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285750" y="4476750"/>
            <a:ext cx="8572500" cy="400200"/>
            <a:chOff x="285750" y="4476750"/>
            <a:chExt cx="8572500" cy="400200"/>
          </a:xfrm>
        </p:grpSpPr>
        <p:sp>
          <p:nvSpPr>
            <p:cNvPr id="130" name="Google Shape;130;p16"/>
            <p:cNvSpPr/>
            <p:nvPr/>
          </p:nvSpPr>
          <p:spPr>
            <a:xfrm>
              <a:off x="285750" y="4476750"/>
              <a:ext cx="8572500" cy="400200"/>
            </a:xfrm>
            <a:prstGeom prst="roundRect">
              <a:avLst>
                <a:gd fmla="val 14285" name="adj"/>
              </a:avLst>
            </a:pr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76250" y="447675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四項場景兼具高知識密度、多步驟協作與明確產出，可作為 Cowork 第一波 PoC 候選。</a:t>
              </a:r>
              <a:endParaRPr b="1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6"/>
          <p:cNvSpPr/>
          <p:nvPr/>
        </p:nvSpPr>
        <p:spPr>
          <a:xfrm>
            <a:off x="2139462" y="2143125"/>
            <a:ext cx="95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285600" y="3216685"/>
            <a:ext cx="5810400" cy="714300"/>
            <a:chOff x="285750" y="3048000"/>
            <a:chExt cx="5810400" cy="714300"/>
          </a:xfrm>
        </p:grpSpPr>
        <p:sp>
          <p:nvSpPr>
            <p:cNvPr id="134" name="Google Shape;134;p16"/>
            <p:cNvSpPr/>
            <p:nvPr/>
          </p:nvSpPr>
          <p:spPr>
            <a:xfrm>
              <a:off x="285750" y="3048000"/>
              <a:ext cx="58104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905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476250" y="3143250"/>
              <a:ext cx="5429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04 </a:t>
              </a:r>
              <a:r>
                <a:rPr b="1" lang="en" sz="12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Knowledge Management Agent </a:t>
              </a:r>
              <a:r>
                <a:rPr b="0" lang="en" sz="12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r>
                <a:rPr b="1" lang="en" sz="12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1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問得到</a:t>
              </a:r>
              <a:endParaRPr b="1" sz="12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🧠 跨專案、文件、會議與工作成果，提供可追溯的即時知識調用</a:t>
              </a:r>
              <a:endParaRPr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6"/>
          <p:cNvSpPr/>
          <p:nvPr/>
        </p:nvSpPr>
        <p:spPr>
          <a:xfrm>
            <a:off x="2215662" y="2114550"/>
            <a:ext cx="477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4128721" y="2143125"/>
            <a:ext cx="95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204921" y="2114550"/>
            <a:ext cx="477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1228725" y="2933700"/>
            <a:ext cx="4305300" cy="219150"/>
            <a:chOff x="942975" y="1933575"/>
            <a:chExt cx="4305300" cy="219150"/>
          </a:xfrm>
        </p:grpSpPr>
        <p:pic>
          <p:nvPicPr>
            <p:cNvPr id="140" name="Google Shape;14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2975" y="1933575"/>
              <a:ext cx="4305300" cy="1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86100" y="2047875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6"/>
            <p:cNvSpPr/>
            <p:nvPr/>
          </p:nvSpPr>
          <p:spPr>
            <a:xfrm>
              <a:off x="3067050" y="21050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01｜Research Agent — 從「找資料」轉向「直接開始判斷」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42875" y="419100"/>
              <a:ext cx="38577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將研究工作中大量的「搜尋、閱讀、整理、交叉驗證與格式化」交由 Cowork，自動形成具來源、具架構的研究初稿。</a:t>
              </a:r>
              <a:endParaRPr sz="10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使同仁的工作核心從 information gathering 轉向 framing、judgment 與 recommendation。</a:t>
              </a:r>
              <a:endParaRPr b="0" sz="10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285750" y="2476500"/>
            <a:ext cx="4143300" cy="2517616"/>
            <a:chOff x="0" y="0"/>
            <a:chExt cx="4143300" cy="23814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42875" y="40005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Context：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指定 SharePoint / OneDrive / Teams / 外部研究來源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Custom Skill：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公司 Research Framework、source hierarchy、分析維度、引用規則、output template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Built-in Skills：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Deep Research、Enterprise Search、Word / Excel / PowerPoint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Guardrails：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來源可信度、需交叉驗證事項、不得推論項目、人工 review checkpoint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Output：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Research memo / benchmark table / management deck 初稿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34455"/>
                  </a:solidFill>
                  <a:highlight>
                    <a:srgbClr val="F0F4F8"/>
                  </a:highlight>
                  <a:latin typeface="Arial"/>
                  <a:ea typeface="Arial"/>
                  <a:cs typeface="Arial"/>
                  <a:sym typeface="Arial"/>
                </a:rPr>
                <a:t>Cowork 的 skills 可以把「怎麼研究、怎麼寫」固化成 reusable workflow。</a:t>
              </a:r>
              <a:endParaRPr sz="900">
                <a:solidFill>
                  <a:srgbClr val="334455"/>
                </a:solidFill>
                <a:highlight>
                  <a:srgbClr val="F0F4F8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4619625" y="904875"/>
            <a:ext cx="4238700" cy="4089241"/>
            <a:chOff x="0" y="0"/>
            <a:chExt cx="4238700" cy="48612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4238700" cy="48612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142875" y="57150"/>
              <a:ext cx="39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190500" y="419100"/>
              <a:ext cx="1809600" cy="228600"/>
            </a:xfrm>
            <a:prstGeom prst="roundRect">
              <a:avLst>
                <a:gd fmla="val 125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90500" y="4191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AS-IS (傳統流程)</a:t>
              </a:r>
              <a:endParaRPr b="1" sz="9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" name="Google Shape;167;p17"/>
            <p:cNvGrpSpPr/>
            <p:nvPr/>
          </p:nvGrpSpPr>
          <p:grpSpPr>
            <a:xfrm>
              <a:off x="190500" y="742950"/>
              <a:ext cx="1809600" cy="362100"/>
              <a:chOff x="0" y="0"/>
              <a:chExt cx="1809600" cy="3621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定義研究問題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17"/>
            <p:cNvSpPr/>
            <p:nvPr/>
          </p:nvSpPr>
          <p:spPr>
            <a:xfrm>
              <a:off x="1095375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1066800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7"/>
            <p:cNvGrpSpPr/>
            <p:nvPr/>
          </p:nvGrpSpPr>
          <p:grpSpPr>
            <a:xfrm>
              <a:off x="190500" y="1247775"/>
              <a:ext cx="1809600" cy="362100"/>
              <a:chOff x="0" y="0"/>
              <a:chExt cx="1809600" cy="362100"/>
            </a:xfrm>
          </p:grpSpPr>
          <p:sp>
            <p:nvSpPr>
              <p:cNvPr id="173" name="Google Shape;17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搜尋內外部資料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" name="Google Shape;175;p17"/>
            <p:cNvSpPr/>
            <p:nvPr/>
          </p:nvSpPr>
          <p:spPr>
            <a:xfrm>
              <a:off x="1095375" y="16097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1066800" y="16859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" name="Google Shape;177;p17"/>
            <p:cNvGrpSpPr/>
            <p:nvPr/>
          </p:nvGrpSpPr>
          <p:grpSpPr>
            <a:xfrm>
              <a:off x="190500" y="1752600"/>
              <a:ext cx="1809600" cy="362100"/>
              <a:chOff x="0" y="0"/>
              <a:chExt cx="1809600" cy="362100"/>
            </a:xfrm>
          </p:grpSpPr>
          <p:sp>
            <p:nvSpPr>
              <p:cNvPr id="178" name="Google Shape;17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逐份下載、閱讀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" name="Google Shape;180;p17"/>
            <p:cNvSpPr/>
            <p:nvPr/>
          </p:nvSpPr>
          <p:spPr>
            <a:xfrm>
              <a:off x="1095375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1066800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p17"/>
            <p:cNvGrpSpPr/>
            <p:nvPr/>
          </p:nvGrpSpPr>
          <p:grpSpPr>
            <a:xfrm>
              <a:off x="190500" y="2257425"/>
              <a:ext cx="1809600" cy="362100"/>
              <a:chOff x="0" y="0"/>
              <a:chExt cx="1809600" cy="36210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手動摘錄重點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" name="Google Shape;185;p17"/>
            <p:cNvSpPr/>
            <p:nvPr/>
          </p:nvSpPr>
          <p:spPr>
            <a:xfrm>
              <a:off x="1095375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1066800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7"/>
            <p:cNvGrpSpPr/>
            <p:nvPr/>
          </p:nvGrpSpPr>
          <p:grpSpPr>
            <a:xfrm>
              <a:off x="190500" y="2762250"/>
              <a:ext cx="1809600" cy="362100"/>
              <a:chOff x="0" y="0"/>
              <a:chExt cx="1809600" cy="362100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建 Excel / comparison table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" name="Google Shape;190;p17"/>
            <p:cNvSpPr/>
            <p:nvPr/>
          </p:nvSpPr>
          <p:spPr>
            <a:xfrm>
              <a:off x="1095375" y="31242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1066800" y="32004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2" name="Google Shape;192;p17"/>
            <p:cNvGrpSpPr/>
            <p:nvPr/>
          </p:nvGrpSpPr>
          <p:grpSpPr>
            <a:xfrm>
              <a:off x="190500" y="3267075"/>
              <a:ext cx="1809600" cy="362100"/>
              <a:chOff x="0" y="0"/>
              <a:chExt cx="1809600" cy="362100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開始分析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5" name="Google Shape;195;p17"/>
            <p:cNvSpPr/>
            <p:nvPr/>
          </p:nvSpPr>
          <p:spPr>
            <a:xfrm>
              <a:off x="1095375" y="36290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1066800" y="37052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>
              <a:off x="190500" y="3771900"/>
              <a:ext cx="1809600" cy="362100"/>
              <a:chOff x="0" y="0"/>
              <a:chExt cx="1809600" cy="362100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寫 Memo / PPT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" name="Google Shape;200;p17"/>
            <p:cNvSpPr/>
            <p:nvPr/>
          </p:nvSpPr>
          <p:spPr>
            <a:xfrm>
              <a:off x="1095375" y="41338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066800" y="42100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" name="Google Shape;202;p17"/>
            <p:cNvGrpSpPr/>
            <p:nvPr/>
          </p:nvGrpSpPr>
          <p:grpSpPr>
            <a:xfrm>
              <a:off x="190500" y="4276725"/>
              <a:ext cx="1809600" cy="362100"/>
              <a:chOff x="0" y="0"/>
              <a:chExt cx="1809600" cy="362100"/>
            </a:xfrm>
          </p:grpSpPr>
          <p:sp>
            <p:nvSpPr>
              <p:cNvPr id="203" name="Google Shape;20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Final recommendation</a:t>
                </a:r>
                <a:endParaRPr b="1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5" name="Google Shape;20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14550" y="419100"/>
              <a:ext cx="9600" cy="42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7"/>
            <p:cNvSpPr/>
            <p:nvPr/>
          </p:nvSpPr>
          <p:spPr>
            <a:xfrm>
              <a:off x="2238375" y="419100"/>
              <a:ext cx="1809600" cy="228600"/>
            </a:xfrm>
            <a:prstGeom prst="roundRect">
              <a:avLst>
                <a:gd fmla="val 125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2238375" y="4191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TO-BE (</a:t>
              </a:r>
              <a:r>
                <a:rPr b="1" lang="en" sz="9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Cowork</a:t>
              </a:r>
              <a:r>
                <a:rPr b="1" lang="en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 協作)</a:t>
              </a:r>
              <a:endParaRPr b="1" sz="9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" name="Google Shape;208;p17"/>
            <p:cNvGrpSpPr/>
            <p:nvPr/>
          </p:nvGrpSpPr>
          <p:grpSpPr>
            <a:xfrm>
              <a:off x="2238375" y="742950"/>
              <a:ext cx="1809600" cy="362100"/>
              <a:chOff x="0" y="0"/>
              <a:chExt cx="1809600" cy="362100"/>
            </a:xfrm>
          </p:grpSpPr>
          <p:sp>
            <p:nvSpPr>
              <p:cNvPr id="209" name="Google Shape;209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定義研究問題 / outcome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211;p17"/>
            <p:cNvSpPr/>
            <p:nvPr/>
          </p:nvSpPr>
          <p:spPr>
            <a:xfrm>
              <a:off x="3143250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3114675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7"/>
            <p:cNvGrpSpPr/>
            <p:nvPr/>
          </p:nvGrpSpPr>
          <p:grpSpPr>
            <a:xfrm>
              <a:off x="2238375" y="1247775"/>
              <a:ext cx="1809600" cy="866700"/>
              <a:chOff x="0" y="0"/>
              <a:chExt cx="1809600" cy="866700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1809600" cy="866700"/>
              </a:xfrm>
              <a:prstGeom prst="roundRect">
                <a:avLst>
                  <a:gd fmla="val 3296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 txBox="1"/>
              <p:nvPr/>
            </p:nvSpPr>
            <p:spPr>
              <a:xfrm>
                <a:off x="0" y="0"/>
                <a:ext cx="1809600" cy="8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047857"/>
                    </a:solidFill>
                    <a:latin typeface="Arial"/>
                    <a:ea typeface="Arial"/>
                    <a:cs typeface="Arial"/>
                    <a:sym typeface="Arial"/>
                  </a:rPr>
                  <a:t>AI 自動處理 (70-80%)</a:t>
                </a:r>
                <a:endParaRPr b="1" sz="85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自動搜尋內外部資料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閱讀＋篩選＋交叉驗證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6" name="Google Shape;216;p17"/>
            <p:cNvSpPr/>
            <p:nvPr/>
          </p:nvSpPr>
          <p:spPr>
            <a:xfrm>
              <a:off x="3143250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114675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8" name="Google Shape;218;p17"/>
            <p:cNvGrpSpPr/>
            <p:nvPr/>
          </p:nvGrpSpPr>
          <p:grpSpPr>
            <a:xfrm>
              <a:off x="2238375" y="2257425"/>
              <a:ext cx="1809600" cy="362100"/>
              <a:chOff x="0" y="0"/>
              <a:chExt cx="1809600" cy="362100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套用 Research Skill 分析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1" name="Google Shape;221;p17"/>
            <p:cNvSpPr/>
            <p:nvPr/>
          </p:nvSpPr>
          <p:spPr>
            <a:xfrm>
              <a:off x="3143250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3114675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7"/>
            <p:cNvGrpSpPr/>
            <p:nvPr/>
          </p:nvGrpSpPr>
          <p:grpSpPr>
            <a:xfrm>
              <a:off x="2238375" y="2762250"/>
              <a:ext cx="1809600" cy="362100"/>
              <a:chOff x="0" y="0"/>
              <a:chExt cx="1809600" cy="362100"/>
            </a:xfrm>
          </p:grpSpPr>
          <p:sp>
            <p:nvSpPr>
              <p:cNvPr id="224" name="Google Shape;224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形成有 citation 的初稿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6" name="Google Shape;226;p17"/>
            <p:cNvSpPr/>
            <p:nvPr/>
          </p:nvSpPr>
          <p:spPr>
            <a:xfrm>
              <a:off x="3143250" y="3124200"/>
              <a:ext cx="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3114675" y="33051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17"/>
            <p:cNvGrpSpPr/>
            <p:nvPr/>
          </p:nvGrpSpPr>
          <p:grpSpPr>
            <a:xfrm>
              <a:off x="2238375" y="3352800"/>
              <a:ext cx="1809600" cy="790500"/>
              <a:chOff x="0" y="0"/>
              <a:chExt cx="1809600" cy="790500"/>
            </a:xfrm>
          </p:grpSpPr>
          <p:sp>
            <p:nvSpPr>
              <p:cNvPr id="229" name="Google Shape;229;p17"/>
              <p:cNvSpPr/>
              <p:nvPr/>
            </p:nvSpPr>
            <p:spPr>
              <a:xfrm>
                <a:off x="0" y="0"/>
                <a:ext cx="1809600" cy="790500"/>
              </a:xfrm>
              <a:prstGeom prst="roundRect">
                <a:avLst>
                  <a:gd fmla="val 3614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 txBox="1"/>
              <p:nvPr/>
            </p:nvSpPr>
            <p:spPr>
              <a:xfrm>
                <a:off x="0" y="0"/>
                <a:ext cx="1809600" cy="7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人員專注高價值判斷</a:t>
                </a:r>
                <a:endParaRPr b="1" sz="90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人員 Review / Judgment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Review、補資料、重改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" name="Google Shape;231;p17"/>
            <p:cNvSpPr/>
            <p:nvPr/>
          </p:nvSpPr>
          <p:spPr>
            <a:xfrm>
              <a:off x="3143250" y="4143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3114675" y="4219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3" name="Google Shape;233;p17"/>
            <p:cNvGrpSpPr/>
            <p:nvPr/>
          </p:nvGrpSpPr>
          <p:grpSpPr>
            <a:xfrm>
              <a:off x="2238375" y="4276725"/>
              <a:ext cx="1809600" cy="362100"/>
              <a:chOff x="0" y="0"/>
              <a:chExt cx="1809600" cy="362100"/>
            </a:xfrm>
          </p:grpSpPr>
          <p:sp>
            <p:nvSpPr>
              <p:cNvPr id="234" name="Google Shape;234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Final recommendation</a:t>
                </a:r>
                <a:endParaRPr b="1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02｜Cross-functional PMO Agent — 從「人追進度」轉向「AI 管理例外」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18"/>
          <p:cNvGrpSpPr/>
          <p:nvPr/>
        </p:nvGrpSpPr>
        <p:grpSpPr>
          <a:xfrm>
            <a:off x="285750" y="904875"/>
            <a:ext cx="4143300" cy="1285800"/>
            <a:chOff x="0" y="0"/>
            <a:chExt cx="4143300" cy="1285800"/>
          </a:xfrm>
        </p:grpSpPr>
        <p:sp>
          <p:nvSpPr>
            <p:cNvPr id="245" name="Google Shape;245;p18"/>
            <p:cNvSpPr/>
            <p:nvPr/>
          </p:nvSpPr>
          <p:spPr>
            <a:xfrm>
              <a:off x="0" y="0"/>
              <a:ext cx="4143300" cy="12858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142875" y="419100"/>
              <a:ext cx="3857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 PMO 最耗時的催件、收件、更新 tracker、辨識落後項目與彙整報告交由 Cowork。</a:t>
              </a:r>
              <a:endParaRPr b="0" sz="893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PM 不再管理每一個 task，而只需介入 exception、dependency 與 management decision。</a:t>
              </a:r>
              <a:endParaRPr b="0" sz="893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18"/>
          <p:cNvGrpSpPr/>
          <p:nvPr/>
        </p:nvGrpSpPr>
        <p:grpSpPr>
          <a:xfrm>
            <a:off x="285750" y="2333625"/>
            <a:ext cx="4143300" cy="2524200"/>
            <a:chOff x="0" y="0"/>
            <a:chExt cx="4143300" cy="2524200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4143300" cy="25242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8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142875" y="419100"/>
              <a:ext cx="3857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9525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Context：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Project plan、milestones、owner、歷史會議、Teams / Email、相關 deliverables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Custom Skill：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On-track / At-risk 定義、催收節奏、完成判定、escalation rule、report template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Automation：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Scheduled task 定期檢查；Email / Teams event trigger 接收更新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Built-in Skills：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Email、Communications、Enterprise Search、Excel、Adaptive Cards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Approval：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對外催件、修改 shared tracker、發 management update 前由人確認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※ Cowork 可依時間或 Email / Teams 事件啟動；涉及傳送或修改 shared system 時預設可設 human approval。</a:t>
              </a:r>
              <a:endParaRPr b="0" sz="808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8"/>
          <p:cNvGrpSpPr/>
          <p:nvPr/>
        </p:nvGrpSpPr>
        <p:grpSpPr>
          <a:xfrm>
            <a:off x="4619625" y="904875"/>
            <a:ext cx="4238700" cy="3953000"/>
            <a:chOff x="0" y="0"/>
            <a:chExt cx="4238700" cy="4677000"/>
          </a:xfrm>
        </p:grpSpPr>
        <p:sp>
          <p:nvSpPr>
            <p:cNvPr id="255" name="Google Shape;255;p18"/>
            <p:cNvSpPr/>
            <p:nvPr/>
          </p:nvSpPr>
          <p:spPr>
            <a:xfrm>
              <a:off x="0" y="0"/>
              <a:ext cx="4238700" cy="46770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0" y="0"/>
              <a:ext cx="42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18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8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 (傳統流程)</a:t>
                </a:r>
                <a:endParaRPr b="1" sz="808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8"/>
            <p:cNvGrpSpPr/>
            <p:nvPr/>
          </p:nvGrpSpPr>
          <p:grpSpPr>
            <a:xfrm>
              <a:off x="190500" y="742950"/>
              <a:ext cx="1809600" cy="324000"/>
              <a:chOff x="0" y="0"/>
              <a:chExt cx="1809600" cy="324000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打開 Project Plan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" name="Google Shape;264;p18"/>
            <p:cNvSpPr/>
            <p:nvPr/>
          </p:nvSpPr>
          <p:spPr>
            <a:xfrm>
              <a:off x="1066800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8"/>
            <p:cNvGrpSpPr/>
            <p:nvPr/>
          </p:nvGrpSpPr>
          <p:grpSpPr>
            <a:xfrm>
              <a:off x="190500" y="1238250"/>
              <a:ext cx="1809600" cy="324000"/>
              <a:chOff x="0" y="0"/>
              <a:chExt cx="1809600" cy="324000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找哪些項目快到期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" name="Google Shape;268;p18"/>
            <p:cNvSpPr/>
            <p:nvPr/>
          </p:nvSpPr>
          <p:spPr>
            <a:xfrm>
              <a:off x="1066800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9" name="Google Shape;269;p18"/>
            <p:cNvGrpSpPr/>
            <p:nvPr/>
          </p:nvGrpSpPr>
          <p:grpSpPr>
            <a:xfrm>
              <a:off x="190500" y="1733550"/>
              <a:ext cx="1809600" cy="324000"/>
              <a:chOff x="0" y="0"/>
              <a:chExt cx="1809600" cy="324000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寄信 / Teams 問 Owner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18"/>
            <p:cNvSpPr/>
            <p:nvPr/>
          </p:nvSpPr>
          <p:spPr>
            <a:xfrm>
              <a:off x="1066800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18"/>
            <p:cNvGrpSpPr/>
            <p:nvPr/>
          </p:nvGrpSpPr>
          <p:grpSpPr>
            <a:xfrm>
              <a:off x="190500" y="2228850"/>
              <a:ext cx="1809600" cy="324000"/>
              <a:chOff x="0" y="0"/>
              <a:chExt cx="1809600" cy="324000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等回覆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6" name="Google Shape;276;p18"/>
            <p:cNvSpPr/>
            <p:nvPr/>
          </p:nvSpPr>
          <p:spPr>
            <a:xfrm>
              <a:off x="1066800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18"/>
            <p:cNvGrpSpPr/>
            <p:nvPr/>
          </p:nvGrpSpPr>
          <p:grpSpPr>
            <a:xfrm>
              <a:off x="190500" y="2724150"/>
              <a:ext cx="1809600" cy="324000"/>
              <a:chOff x="0" y="0"/>
              <a:chExt cx="1809600" cy="324000"/>
            </a:xfrm>
          </p:grpSpPr>
          <p:sp>
            <p:nvSpPr>
              <p:cNvPr id="278" name="Google Shape;278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Clarify 回覆的內容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0" name="Google Shape;280;p18"/>
            <p:cNvSpPr/>
            <p:nvPr/>
          </p:nvSpPr>
          <p:spPr>
            <a:xfrm>
              <a:off x="1066800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190500" y="3219450"/>
              <a:ext cx="1809600" cy="324000"/>
              <a:chOff x="0" y="0"/>
              <a:chExt cx="1809600" cy="324000"/>
            </a:xfrm>
          </p:grpSpPr>
          <p:sp>
            <p:nvSpPr>
              <p:cNvPr id="282" name="Google Shape;282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再追一次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284" name="Google Shape;284;p18"/>
            <p:cNvSpPr/>
            <p:nvPr/>
          </p:nvSpPr>
          <p:spPr>
            <a:xfrm>
              <a:off x="1066800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18"/>
            <p:cNvGrpSpPr/>
            <p:nvPr/>
          </p:nvGrpSpPr>
          <p:grpSpPr>
            <a:xfrm>
              <a:off x="190500" y="3714750"/>
              <a:ext cx="1809600" cy="324000"/>
              <a:chOff x="0" y="0"/>
              <a:chExt cx="1809600" cy="324000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手動記錄更新狀況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288" name="Google Shape;288;p18"/>
            <p:cNvSpPr/>
            <p:nvPr/>
          </p:nvSpPr>
          <p:spPr>
            <a:xfrm>
              <a:off x="1066800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18"/>
            <p:cNvGrpSpPr/>
            <p:nvPr/>
          </p:nvGrpSpPr>
          <p:grpSpPr>
            <a:xfrm>
              <a:off x="190500" y="4210050"/>
              <a:ext cx="1809600" cy="400200"/>
              <a:chOff x="0" y="0"/>
              <a:chExt cx="1809600" cy="400200"/>
            </a:xfrm>
          </p:grpSpPr>
          <p:sp>
            <p:nvSpPr>
              <p:cNvPr id="290" name="Google Shape;290;p18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下週全部再做一次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2" name="Google Shape;292;p18"/>
            <p:cNvCxnSpPr/>
            <p:nvPr/>
          </p:nvCxnSpPr>
          <p:spPr>
            <a:xfrm>
              <a:off x="2109788" y="419100"/>
              <a:ext cx="0" cy="4152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93" name="Google Shape;293;p18"/>
            <p:cNvGrpSpPr/>
            <p:nvPr/>
          </p:nvGrpSpPr>
          <p:grpSpPr>
            <a:xfrm>
              <a:off x="2238375" y="419100"/>
              <a:ext cx="1809600" cy="228600"/>
              <a:chOff x="0" y="0"/>
              <a:chExt cx="1809600" cy="228600"/>
            </a:xfrm>
          </p:grpSpPr>
          <p:sp>
            <p:nvSpPr>
              <p:cNvPr id="294" name="Google Shape;294;p18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8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 (Cowork 協作)</a:t>
                </a:r>
                <a:endParaRPr b="1" sz="808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6" name="Google Shape;296;p18"/>
            <p:cNvGrpSpPr/>
            <p:nvPr/>
          </p:nvGrpSpPr>
          <p:grpSpPr>
            <a:xfrm>
              <a:off x="2238375" y="742950"/>
              <a:ext cx="1809600" cy="324000"/>
              <a:chOff x="0" y="0"/>
              <a:chExt cx="1809600" cy="324000"/>
            </a:xfrm>
          </p:grpSpPr>
          <p:sp>
            <p:nvSpPr>
              <p:cNvPr id="297" name="Google Shape;297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Cowork 定期讀取 Project Plan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9" name="Google Shape;299;p18"/>
            <p:cNvSpPr/>
            <p:nvPr/>
          </p:nvSpPr>
          <p:spPr>
            <a:xfrm>
              <a:off x="3114675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0" name="Google Shape;300;p18"/>
            <p:cNvGrpSpPr/>
            <p:nvPr/>
          </p:nvGrpSpPr>
          <p:grpSpPr>
            <a:xfrm>
              <a:off x="2238375" y="1238250"/>
              <a:ext cx="1809600" cy="324000"/>
              <a:chOff x="0" y="0"/>
              <a:chExt cx="1809600" cy="324000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自動辨識 overdue / at-risk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" name="Google Shape;303;p18"/>
            <p:cNvSpPr/>
            <p:nvPr/>
          </p:nvSpPr>
          <p:spPr>
            <a:xfrm>
              <a:off x="3114675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2238375" y="1733550"/>
              <a:ext cx="1809600" cy="324000"/>
              <a:chOff x="0" y="0"/>
              <a:chExt cx="1809600" cy="3240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發訊 Email / Teams 詢問進度</a:t>
                </a:r>
                <a:endParaRPr b="1" sz="808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7" name="Google Shape;307;p18"/>
            <p:cNvSpPr/>
            <p:nvPr/>
          </p:nvSpPr>
          <p:spPr>
            <a:xfrm>
              <a:off x="3114675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p18"/>
            <p:cNvGrpSpPr/>
            <p:nvPr/>
          </p:nvGrpSpPr>
          <p:grpSpPr>
            <a:xfrm>
              <a:off x="2238375" y="2228850"/>
              <a:ext cx="1809600" cy="324000"/>
              <a:chOff x="0" y="0"/>
              <a:chExt cx="1809600" cy="324000"/>
            </a:xfrm>
          </p:grpSpPr>
          <p:sp>
            <p:nvSpPr>
              <p:cNvPr id="309" name="Google Shape;309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讀取回覆與最新文件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" name="Google Shape;311;p18"/>
            <p:cNvSpPr/>
            <p:nvPr/>
          </p:nvSpPr>
          <p:spPr>
            <a:xfrm>
              <a:off x="3114675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18"/>
            <p:cNvGrpSpPr/>
            <p:nvPr/>
          </p:nvGrpSpPr>
          <p:grpSpPr>
            <a:xfrm>
              <a:off x="2238375" y="2724150"/>
              <a:ext cx="1809600" cy="324000"/>
              <a:chOff x="0" y="0"/>
              <a:chExt cx="1809600" cy="324000"/>
            </a:xfrm>
          </p:grpSpPr>
          <p:sp>
            <p:nvSpPr>
              <p:cNvPr id="313" name="Google Shape;313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 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Clarify 回覆的內容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315" name="Google Shape;315;p18"/>
            <p:cNvSpPr/>
            <p:nvPr/>
          </p:nvSpPr>
          <p:spPr>
            <a:xfrm>
              <a:off x="3114675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6" name="Google Shape;316;p18"/>
            <p:cNvGrpSpPr/>
            <p:nvPr/>
          </p:nvGrpSpPr>
          <p:grpSpPr>
            <a:xfrm>
              <a:off x="2238375" y="3219450"/>
              <a:ext cx="1809600" cy="324000"/>
              <a:chOff x="0" y="0"/>
              <a:chExt cx="1809600" cy="324000"/>
            </a:xfrm>
          </p:grpSpPr>
          <p:sp>
            <p:nvSpPr>
              <p:cNvPr id="317" name="Google Shape;317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判斷 completeness / gap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319" name="Google Shape;319;p18"/>
            <p:cNvSpPr/>
            <p:nvPr/>
          </p:nvSpPr>
          <p:spPr>
            <a:xfrm>
              <a:off x="3114675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0" name="Google Shape;320;p18"/>
            <p:cNvGrpSpPr/>
            <p:nvPr/>
          </p:nvGrpSpPr>
          <p:grpSpPr>
            <a:xfrm>
              <a:off x="2238375" y="3714750"/>
              <a:ext cx="1809600" cy="324000"/>
              <a:chOff x="0" y="0"/>
              <a:chExt cx="1809600" cy="324000"/>
            </a:xfrm>
          </p:grpSpPr>
          <p:sp>
            <p:nvSpPr>
              <p:cNvPr id="321" name="Google Shape;321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更新 Tracker / status pack</a:t>
                </a:r>
                <a:endParaRPr b="1" sz="808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18"/>
            <p:cNvSpPr/>
            <p:nvPr/>
          </p:nvSpPr>
          <p:spPr>
            <a:xfrm>
              <a:off x="3114675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4" name="Google Shape;324;p18"/>
            <p:cNvGrpSpPr/>
            <p:nvPr/>
          </p:nvGrpSpPr>
          <p:grpSpPr>
            <a:xfrm>
              <a:off x="2238375" y="4210050"/>
              <a:ext cx="1809600" cy="400200"/>
              <a:chOff x="0" y="0"/>
              <a:chExt cx="1809600" cy="400200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8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PM Review / Decision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03｜Meeting Record Agent — 從「做完會議紀錄」轉向「會議直接變成可執行知識」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19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9"/>
            <p:cNvSpPr txBox="1"/>
            <p:nvPr/>
          </p:nvSpPr>
          <p:spPr>
            <a:xfrm>
              <a:off x="142875" y="438150"/>
              <a:ext cx="38577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讓錄音或逐字稿自動轉成公司標準格式的 Minutes、Decision 與 Action Items，並存放至正確位置。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會議資訊不再只是文字紀錄，而能直接進入 Knowledge Management 系統與後續的 PMO 專案管理執行 (execution)。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9"/>
          <p:cNvGrpSpPr/>
          <p:nvPr/>
        </p:nvGrpSpPr>
        <p:grpSpPr>
          <a:xfrm>
            <a:off x="285750" y="2476500"/>
            <a:ext cx="4143300" cy="2381400"/>
            <a:chOff x="0" y="0"/>
            <a:chExt cx="4143300" cy="2381400"/>
          </a:xfrm>
        </p:grpSpPr>
        <p:sp>
          <p:nvSpPr>
            <p:cNvPr id="341" name="Google Shape;341;p19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9"/>
            <p:cNvSpPr txBox="1"/>
            <p:nvPr/>
          </p:nvSpPr>
          <p:spPr>
            <a:xfrm>
              <a:off x="142875" y="41910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1430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Input：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錄音檔 / transcript / Teams meeting content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Custom Skill：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固定格式、語氣、討論摘要、Decision、Action Item、Owner、Deadline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Naming Rule：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日期＋Project＋Meeting Type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Storage Rule：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依 project / department 自動放入指定 SharePoint / OneDrive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Built-in Skills：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Meetings、Word、Enterprise Search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Optional Integration：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Action Items → PMO tracker；Decision → Knowledge Base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Human Checkpoint：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正式發布前，由人工確認敏感內容、Owner 與 Deadline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9"/>
          <p:cNvGrpSpPr/>
          <p:nvPr/>
        </p:nvGrpSpPr>
        <p:grpSpPr>
          <a:xfrm>
            <a:off x="4619625" y="904875"/>
            <a:ext cx="4238700" cy="3953033"/>
            <a:chOff x="0" y="0"/>
            <a:chExt cx="4238700" cy="4799700"/>
          </a:xfrm>
        </p:grpSpPr>
        <p:sp>
          <p:nvSpPr>
            <p:cNvPr id="346" name="Google Shape;346;p19"/>
            <p:cNvSpPr/>
            <p:nvPr/>
          </p:nvSpPr>
          <p:spPr>
            <a:xfrm>
              <a:off x="0" y="0"/>
              <a:ext cx="4238700" cy="47997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0" y="0"/>
              <a:ext cx="42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9" name="Google Shape;349;p19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350" name="Google Shape;350;p19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9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991B1B"/>
                    </a:solidFill>
                  </a:rPr>
                  <a:t>AS-IS (傳統流程)</a:t>
                </a:r>
                <a:endParaRPr b="1" sz="950">
                  <a:solidFill>
                    <a:srgbClr val="991B1B"/>
                  </a:solidFill>
                </a:endParaRPr>
              </a:p>
            </p:txBody>
          </p:sp>
        </p:grpSp>
        <p:grpSp>
          <p:nvGrpSpPr>
            <p:cNvPr id="352" name="Google Shape;352;p19"/>
            <p:cNvGrpSpPr/>
            <p:nvPr/>
          </p:nvGrpSpPr>
          <p:grpSpPr>
            <a:xfrm>
              <a:off x="190500" y="742950"/>
              <a:ext cx="1809600" cy="324000"/>
              <a:chOff x="0" y="0"/>
              <a:chExt cx="1809600" cy="324000"/>
            </a:xfrm>
          </p:grpSpPr>
          <p:sp>
            <p:nvSpPr>
              <p:cNvPr id="353" name="Google Shape;353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開完會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5" name="Google Shape;355;p19"/>
            <p:cNvSpPr/>
            <p:nvPr/>
          </p:nvSpPr>
          <p:spPr>
            <a:xfrm>
              <a:off x="1066800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19"/>
            <p:cNvGrpSpPr/>
            <p:nvPr/>
          </p:nvGrpSpPr>
          <p:grpSpPr>
            <a:xfrm>
              <a:off x="190500" y="1238250"/>
              <a:ext cx="1809600" cy="324000"/>
              <a:chOff x="0" y="0"/>
              <a:chExt cx="1809600" cy="324000"/>
            </a:xfrm>
          </p:grpSpPr>
          <p:sp>
            <p:nvSpPr>
              <p:cNvPr id="357" name="Google Shape;357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回頭聽錄音 / 看 transcript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9" name="Google Shape;359;p19"/>
            <p:cNvSpPr/>
            <p:nvPr/>
          </p:nvSpPr>
          <p:spPr>
            <a:xfrm>
              <a:off x="1066800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19"/>
            <p:cNvGrpSpPr/>
            <p:nvPr/>
          </p:nvGrpSpPr>
          <p:grpSpPr>
            <a:xfrm>
              <a:off x="190500" y="1733550"/>
              <a:ext cx="1809600" cy="324000"/>
              <a:chOff x="0" y="0"/>
              <a:chExt cx="1809600" cy="324000"/>
            </a:xfrm>
          </p:grpSpPr>
          <p:sp>
            <p:nvSpPr>
              <p:cNvPr id="361" name="Google Shape;361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手動整理討論內容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19"/>
            <p:cNvSpPr/>
            <p:nvPr/>
          </p:nvSpPr>
          <p:spPr>
            <a:xfrm>
              <a:off x="1066800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19"/>
            <p:cNvGrpSpPr/>
            <p:nvPr/>
          </p:nvGrpSpPr>
          <p:grpSpPr>
            <a:xfrm>
              <a:off x="190500" y="2228850"/>
              <a:ext cx="1809600" cy="324000"/>
              <a:chOff x="0" y="0"/>
              <a:chExt cx="1809600" cy="324000"/>
            </a:xfrm>
          </p:grpSpPr>
          <p:sp>
            <p:nvSpPr>
              <p:cNvPr id="365" name="Google Shape;365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判斷哪些是 Decision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19"/>
            <p:cNvSpPr/>
            <p:nvPr/>
          </p:nvSpPr>
          <p:spPr>
            <a:xfrm>
              <a:off x="1066800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19"/>
            <p:cNvGrpSpPr/>
            <p:nvPr/>
          </p:nvGrpSpPr>
          <p:grpSpPr>
            <a:xfrm>
              <a:off x="190500" y="2724150"/>
              <a:ext cx="1809600" cy="324000"/>
              <a:chOff x="0" y="0"/>
              <a:chExt cx="1809600" cy="324000"/>
            </a:xfrm>
          </p:grpSpPr>
          <p:sp>
            <p:nvSpPr>
              <p:cNvPr id="369" name="Google Shape;369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整理 Action Item / 人員 / 時程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19"/>
            <p:cNvSpPr/>
            <p:nvPr/>
          </p:nvSpPr>
          <p:spPr>
            <a:xfrm>
              <a:off x="1066800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19"/>
            <p:cNvGrpSpPr/>
            <p:nvPr/>
          </p:nvGrpSpPr>
          <p:grpSpPr>
            <a:xfrm>
              <a:off x="190500" y="3219450"/>
              <a:ext cx="1809600" cy="324000"/>
              <a:chOff x="0" y="0"/>
              <a:chExt cx="1809600" cy="324000"/>
            </a:xfrm>
          </p:grpSpPr>
          <p:sp>
            <p:nvSpPr>
              <p:cNvPr id="373" name="Google Shape;373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手動改成公司格式並命名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" name="Google Shape;375;p19"/>
            <p:cNvSpPr/>
            <p:nvPr/>
          </p:nvSpPr>
          <p:spPr>
            <a:xfrm>
              <a:off x="1066800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" name="Google Shape;376;p19"/>
            <p:cNvGrpSpPr/>
            <p:nvPr/>
          </p:nvGrpSpPr>
          <p:grpSpPr>
            <a:xfrm>
              <a:off x="190500" y="3714750"/>
              <a:ext cx="1809600" cy="324000"/>
              <a:chOff x="0" y="0"/>
              <a:chExt cx="1809600" cy="324000"/>
            </a:xfrm>
          </p:grpSpPr>
          <p:sp>
            <p:nvSpPr>
              <p:cNvPr id="377" name="Google Shape;377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上傳至 SharePoint 正確資料夾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9" name="Google Shape;379;p19"/>
            <p:cNvSpPr/>
            <p:nvPr/>
          </p:nvSpPr>
          <p:spPr>
            <a:xfrm>
              <a:off x="1066800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" name="Google Shape;380;p19"/>
            <p:cNvGrpSpPr/>
            <p:nvPr/>
          </p:nvGrpSpPr>
          <p:grpSpPr>
            <a:xfrm>
              <a:off x="190500" y="4210050"/>
              <a:ext cx="1809600" cy="400200"/>
              <a:chOff x="0" y="0"/>
              <a:chExt cx="1809600" cy="400200"/>
            </a:xfrm>
          </p:grpSpPr>
          <p:sp>
            <p:nvSpPr>
              <p:cNvPr id="381" name="Google Shape;381;p19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另外到 PMO 與知識庫手動更新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3" name="Google Shape;38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9788" y="419100"/>
              <a:ext cx="9600" cy="4152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4" name="Google Shape;384;p19"/>
            <p:cNvGrpSpPr/>
            <p:nvPr/>
          </p:nvGrpSpPr>
          <p:grpSpPr>
            <a:xfrm>
              <a:off x="2238375" y="419100"/>
              <a:ext cx="1809600" cy="228600"/>
              <a:chOff x="0" y="0"/>
              <a:chExt cx="1809600" cy="228600"/>
            </a:xfrm>
          </p:grpSpPr>
          <p:sp>
            <p:nvSpPr>
              <p:cNvPr id="385" name="Google Shape;385;p19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</a:rPr>
                  <a:t>TO-BE (Copilot 協作)</a:t>
                </a:r>
                <a:endParaRPr b="1" sz="950">
                  <a:solidFill>
                    <a:srgbClr val="166534"/>
                  </a:solidFill>
                </a:endParaRPr>
              </a:p>
            </p:txBody>
          </p:sp>
        </p:grpSp>
        <p:grpSp>
          <p:nvGrpSpPr>
            <p:cNvPr id="387" name="Google Shape;387;p19"/>
            <p:cNvGrpSpPr/>
            <p:nvPr/>
          </p:nvGrpSpPr>
          <p:grpSpPr>
            <a:xfrm>
              <a:off x="2238375" y="742950"/>
              <a:ext cx="1809600" cy="324000"/>
              <a:chOff x="0" y="0"/>
              <a:chExt cx="1809600" cy="324000"/>
            </a:xfrm>
          </p:grpSpPr>
          <p:sp>
            <p:nvSpPr>
              <p:cNvPr id="388" name="Google Shape;388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開完會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" name="Google Shape;390;p19"/>
            <p:cNvSpPr/>
            <p:nvPr/>
          </p:nvSpPr>
          <p:spPr>
            <a:xfrm>
              <a:off x="3114675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" name="Google Shape;391;p19"/>
            <p:cNvGrpSpPr/>
            <p:nvPr/>
          </p:nvGrpSpPr>
          <p:grpSpPr>
            <a:xfrm>
              <a:off x="2238375" y="1238250"/>
              <a:ext cx="1809600" cy="324000"/>
              <a:chOff x="0" y="0"/>
              <a:chExt cx="1809600" cy="324000"/>
            </a:xfrm>
          </p:grpSpPr>
          <p:sp>
            <p:nvSpPr>
              <p:cNvPr id="392" name="Google Shape;392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上傳錄音檔 / 逐字稿 / 資訊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4" name="Google Shape;394;p19"/>
            <p:cNvSpPr/>
            <p:nvPr/>
          </p:nvSpPr>
          <p:spPr>
            <a:xfrm>
              <a:off x="3114675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5" name="Google Shape;395;p19"/>
            <p:cNvGrpSpPr/>
            <p:nvPr/>
          </p:nvGrpSpPr>
          <p:grpSpPr>
            <a:xfrm>
              <a:off x="2238375" y="1733550"/>
              <a:ext cx="1809600" cy="324000"/>
              <a:chOff x="0" y="0"/>
              <a:chExt cx="1809600" cy="324000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套用 Meeting Record Skill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8" name="Google Shape;398;p19"/>
            <p:cNvSpPr/>
            <p:nvPr/>
          </p:nvSpPr>
          <p:spPr>
            <a:xfrm>
              <a:off x="3114675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19"/>
            <p:cNvGrpSpPr/>
            <p:nvPr/>
          </p:nvGrpSpPr>
          <p:grpSpPr>
            <a:xfrm>
              <a:off x="2238375" y="2228850"/>
              <a:ext cx="1809600" cy="324000"/>
              <a:chOff x="0" y="0"/>
              <a:chExt cx="1809600" cy="324000"/>
            </a:xfrm>
          </p:grpSpPr>
          <p:sp>
            <p:nvSpPr>
              <p:cNvPr id="400" name="Google Shape;400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AI 自動辨識 Decision 決策點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2" name="Google Shape;402;p19"/>
            <p:cNvSpPr/>
            <p:nvPr/>
          </p:nvSpPr>
          <p:spPr>
            <a:xfrm>
              <a:off x="3114675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2238375" y="2724150"/>
              <a:ext cx="1809600" cy="324000"/>
              <a:chOff x="0" y="0"/>
              <a:chExt cx="1809600" cy="3240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自動指派 Action / Owner / 時程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6" name="Google Shape;406;p19"/>
            <p:cNvSpPr/>
            <p:nvPr/>
          </p:nvSpPr>
          <p:spPr>
            <a:xfrm>
              <a:off x="3114675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7" name="Google Shape;407;p19"/>
            <p:cNvGrpSpPr/>
            <p:nvPr/>
          </p:nvGrpSpPr>
          <p:grpSpPr>
            <a:xfrm>
              <a:off x="2238375" y="3219450"/>
              <a:ext cx="1809600" cy="324000"/>
              <a:chOff x="0" y="0"/>
              <a:chExt cx="1809600" cy="324000"/>
            </a:xfrm>
          </p:grpSpPr>
          <p:sp>
            <p:nvSpPr>
              <p:cNvPr id="408" name="Google Shape;408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生成標準紀錄並依規則歸檔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0" name="Google Shape;410;p19"/>
            <p:cNvSpPr/>
            <p:nvPr/>
          </p:nvSpPr>
          <p:spPr>
            <a:xfrm>
              <a:off x="3114675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19"/>
            <p:cNvGrpSpPr/>
            <p:nvPr/>
          </p:nvGrpSpPr>
          <p:grpSpPr>
            <a:xfrm>
              <a:off x="2238375" y="3714750"/>
              <a:ext cx="1809600" cy="324000"/>
              <a:chOff x="0" y="0"/>
              <a:chExt cx="1809600" cy="324000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自動同步 Knowledge / PMO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19"/>
            <p:cNvSpPr/>
            <p:nvPr/>
          </p:nvSpPr>
          <p:spPr>
            <a:xfrm>
              <a:off x="3114675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5" name="Google Shape;415;p19"/>
            <p:cNvGrpSpPr/>
            <p:nvPr/>
          </p:nvGrpSpPr>
          <p:grpSpPr>
            <a:xfrm>
              <a:off x="2238375" y="4210050"/>
              <a:ext cx="1809600" cy="400200"/>
              <a:chOff x="0" y="0"/>
              <a:chExt cx="1809600" cy="400200"/>
            </a:xfrm>
          </p:grpSpPr>
          <p:sp>
            <p:nvSpPr>
              <p:cNvPr id="416" name="Google Shape;416;p19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正式發布前，由人工 Review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04｜Knowledge Management Agent — 從「知道資料在哪」轉向「直接取得組織記憶」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20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427" name="Google Shape;427;p20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0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142875" y="419100"/>
              <a:ext cx="38577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將散落於 SharePoint、Teams、Email、舊簡報與個人記憶中的知識，轉化成可用自然語言直接調用的 institutional memory。</a:t>
              </a:r>
              <a:endParaRPr b="0" sz="925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顯著降低企業重複研究、內部找人問資料，以及人員離職造成的關鍵知識流失 (knowledge loss)。</a:t>
              </a:r>
              <a:endParaRPr b="0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20"/>
          <p:cNvGrpSpPr/>
          <p:nvPr/>
        </p:nvGrpSpPr>
        <p:grpSpPr>
          <a:xfrm>
            <a:off x="285750" y="2476500"/>
            <a:ext cx="4143300" cy="2381400"/>
            <a:chOff x="0" y="0"/>
            <a:chExt cx="4143300" cy="2381400"/>
          </a:xfrm>
        </p:grpSpPr>
        <p:sp>
          <p:nvSpPr>
            <p:cNvPr id="432" name="Google Shape;432;p20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0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0"/>
            <p:cNvSpPr txBox="1"/>
            <p:nvPr/>
          </p:nvSpPr>
          <p:spPr>
            <a:xfrm>
              <a:off x="142875" y="40005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Context：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指定 SharePoint sites、OneDrive、Teams、Email 等既有權限範圍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Work IQ / Enterprise Search：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跨文件、訊息、會議、人員建立全方位工作脈絡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Custom Knowledge Skill：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定義回答格式、precedent 判斷、決策歷史與引用規範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Metadata / Taxonomy：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自動歸檔專案、客戶、主題、日期、擁有者與決策標籤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Optional Output：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將篩選出的重要結論，自動整理成 standardized knowledge note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334455"/>
                  </a:solidFill>
                  <a:highlight>
                    <a:srgbClr val="F0F4F8"/>
                  </a:highlight>
                  <a:latin typeface="Arial"/>
                  <a:ea typeface="Arial"/>
                  <a:cs typeface="Arial"/>
                  <a:sym typeface="Arial"/>
                </a:rPr>
                <a:t>Work IQ 為 Microsoft 用於整合 Mail、Files、People 等脈絡的智慧層。</a:t>
              </a:r>
              <a:endParaRPr b="0" sz="833">
                <a:solidFill>
                  <a:srgbClr val="334455"/>
                </a:solidFill>
                <a:highlight>
                  <a:srgbClr val="F0F4F8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20"/>
          <p:cNvGrpSpPr/>
          <p:nvPr/>
        </p:nvGrpSpPr>
        <p:grpSpPr>
          <a:xfrm>
            <a:off x="4619625" y="904875"/>
            <a:ext cx="4238700" cy="3953058"/>
            <a:chOff x="0" y="0"/>
            <a:chExt cx="4238700" cy="4754700"/>
          </a:xfrm>
        </p:grpSpPr>
        <p:sp>
          <p:nvSpPr>
            <p:cNvPr id="437" name="Google Shape;437;p20"/>
            <p:cNvSpPr/>
            <p:nvPr/>
          </p:nvSpPr>
          <p:spPr>
            <a:xfrm>
              <a:off x="0" y="0"/>
              <a:ext cx="4238700" cy="47547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0"/>
            <p:cNvSpPr txBox="1"/>
            <p:nvPr/>
          </p:nvSpPr>
          <p:spPr>
            <a:xfrm>
              <a:off x="142875" y="57150"/>
              <a:ext cx="39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20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441" name="Google Shape;441;p20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0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 (傳統流程)</a:t>
                </a:r>
                <a:endParaRPr b="1" sz="9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3" name="Google Shape;443;p20"/>
            <p:cNvGrpSpPr/>
            <p:nvPr/>
          </p:nvGrpSpPr>
          <p:grpSpPr>
            <a:xfrm>
              <a:off x="190500" y="742950"/>
              <a:ext cx="1809600" cy="362100"/>
              <a:chOff x="0" y="0"/>
              <a:chExt cx="1809600" cy="362100"/>
            </a:xfrm>
          </p:grpSpPr>
          <p:sp>
            <p:nvSpPr>
              <p:cNvPr id="444" name="Google Shape;444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「以前有人做過嗎？」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6" name="Google Shape;446;p20"/>
            <p:cNvSpPr/>
            <p:nvPr/>
          </p:nvSpPr>
          <p:spPr>
            <a:xfrm>
              <a:off x="1095375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1066800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8" name="Google Shape;448;p20"/>
            <p:cNvGrpSpPr/>
            <p:nvPr/>
          </p:nvGrpSpPr>
          <p:grpSpPr>
            <a:xfrm>
              <a:off x="190500" y="1247775"/>
              <a:ext cx="1809600" cy="362100"/>
              <a:chOff x="0" y="0"/>
              <a:chExt cx="1809600" cy="362100"/>
            </a:xfrm>
          </p:grpSpPr>
          <p:sp>
            <p:nvSpPr>
              <p:cNvPr id="449" name="Google Shape;449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問資深同事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" name="Google Shape;451;p20"/>
            <p:cNvSpPr/>
            <p:nvPr/>
          </p:nvSpPr>
          <p:spPr>
            <a:xfrm>
              <a:off x="1095375" y="16097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1066800" y="16859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3" name="Google Shape;453;p20"/>
            <p:cNvGrpSpPr/>
            <p:nvPr/>
          </p:nvGrpSpPr>
          <p:grpSpPr>
            <a:xfrm>
              <a:off x="190500" y="1752600"/>
              <a:ext cx="1809600" cy="362100"/>
              <a:chOff x="0" y="0"/>
              <a:chExt cx="1809600" cy="362100"/>
            </a:xfrm>
          </p:grpSpPr>
          <p:sp>
            <p:nvSpPr>
              <p:cNvPr id="454" name="Google Shape;454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翻 SharePoint </a:t>
                </a:r>
                <a:r>
                  <a:rPr lang="en" sz="833">
                    <a:solidFill>
                      <a:srgbClr val="122B46"/>
                    </a:solidFill>
                  </a:rPr>
                  <a:t>/ 公槽</a:t>
                </a: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搜尋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6" name="Google Shape;456;p20"/>
            <p:cNvSpPr/>
            <p:nvPr/>
          </p:nvSpPr>
          <p:spPr>
            <a:xfrm>
              <a:off x="1095375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066800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20"/>
            <p:cNvGrpSpPr/>
            <p:nvPr/>
          </p:nvGrpSpPr>
          <p:grpSpPr>
            <a:xfrm>
              <a:off x="190500" y="2257425"/>
              <a:ext cx="1809600" cy="362100"/>
              <a:chOff x="0" y="0"/>
              <a:chExt cx="1809600" cy="362100"/>
            </a:xfrm>
          </p:grpSpPr>
          <p:sp>
            <p:nvSpPr>
              <p:cNvPr id="459" name="Google Shape;459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 Teams / Email 歷史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" name="Google Shape;461;p20"/>
            <p:cNvSpPr/>
            <p:nvPr/>
          </p:nvSpPr>
          <p:spPr>
            <a:xfrm>
              <a:off x="1095375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1066800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20"/>
            <p:cNvGrpSpPr/>
            <p:nvPr/>
          </p:nvGrpSpPr>
          <p:grpSpPr>
            <a:xfrm>
              <a:off x="190500" y="2762250"/>
              <a:ext cx="1809600" cy="362100"/>
              <a:chOff x="0" y="0"/>
              <a:chExt cx="1809600" cy="362100"/>
            </a:xfrm>
          </p:grpSpPr>
          <p:sp>
            <p:nvSpPr>
              <p:cNvPr id="464" name="Google Shape;464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找到幾份可能相關文件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6" name="Google Shape;466;p20"/>
            <p:cNvSpPr/>
            <p:nvPr/>
          </p:nvSpPr>
          <p:spPr>
            <a:xfrm>
              <a:off x="1095375" y="31242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1066800" y="32004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8" name="Google Shape;468;p20"/>
            <p:cNvGrpSpPr/>
            <p:nvPr/>
          </p:nvGrpSpPr>
          <p:grpSpPr>
            <a:xfrm>
              <a:off x="190500" y="3267075"/>
              <a:ext cx="1809600" cy="362100"/>
              <a:chOff x="0" y="0"/>
              <a:chExt cx="1809600" cy="362100"/>
            </a:xfrm>
          </p:grpSpPr>
          <p:sp>
            <p:nvSpPr>
              <p:cNvPr id="469" name="Google Shape;469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自己重新閱讀、推敲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1" name="Google Shape;471;p20"/>
            <p:cNvSpPr/>
            <p:nvPr/>
          </p:nvSpPr>
          <p:spPr>
            <a:xfrm>
              <a:off x="1095375" y="36290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1066800" y="37052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3" name="Google Shape;473;p20"/>
            <p:cNvGrpSpPr/>
            <p:nvPr/>
          </p:nvGrpSpPr>
          <p:grpSpPr>
            <a:xfrm>
              <a:off x="190500" y="3771900"/>
              <a:ext cx="1809600" cy="362100"/>
              <a:chOff x="0" y="0"/>
              <a:chExt cx="1809600" cy="362100"/>
            </a:xfrm>
          </p:grpSpPr>
          <p:sp>
            <p:nvSpPr>
              <p:cNvPr id="474" name="Google Shape;474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拼湊當時的決策背景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6" name="Google Shape;476;p20"/>
            <p:cNvSpPr/>
            <p:nvPr/>
          </p:nvSpPr>
          <p:spPr>
            <a:xfrm>
              <a:off x="1095375" y="41338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1066800" y="42100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8" name="Google Shape;478;p20"/>
            <p:cNvGrpSpPr/>
            <p:nvPr/>
          </p:nvGrpSpPr>
          <p:grpSpPr>
            <a:xfrm>
              <a:off x="190500" y="4276725"/>
              <a:ext cx="1809600" cy="362100"/>
              <a:chOff x="0" y="0"/>
              <a:chExt cx="1809600" cy="362100"/>
            </a:xfrm>
          </p:grpSpPr>
          <p:sp>
            <p:nvSpPr>
              <p:cNvPr id="479" name="Google Shape;479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重疊研究，甚至直接重做</a:t>
                </a:r>
                <a:endParaRPr b="1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81" name="Google Shape;48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9788" y="419100"/>
              <a:ext cx="9600" cy="4200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2" name="Google Shape;482;p20"/>
            <p:cNvGrpSpPr/>
            <p:nvPr/>
          </p:nvGrpSpPr>
          <p:grpSpPr>
            <a:xfrm>
              <a:off x="2238375" y="419100"/>
              <a:ext cx="1800300" cy="228600"/>
              <a:chOff x="0" y="0"/>
              <a:chExt cx="1800300" cy="228600"/>
            </a:xfrm>
          </p:grpSpPr>
          <p:sp>
            <p:nvSpPr>
              <p:cNvPr id="483" name="Google Shape;483;p20"/>
              <p:cNvSpPr/>
              <p:nvPr/>
            </p:nvSpPr>
            <p:spPr>
              <a:xfrm>
                <a:off x="0" y="0"/>
                <a:ext cx="18003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0"/>
              <p:cNvSpPr txBox="1"/>
              <p:nvPr/>
            </p:nvSpPr>
            <p:spPr>
              <a:xfrm>
                <a:off x="0" y="0"/>
                <a:ext cx="1800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 (</a:t>
                </a: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Cowork</a:t>
                </a: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 協作)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20"/>
            <p:cNvGrpSpPr/>
            <p:nvPr/>
          </p:nvGrpSpPr>
          <p:grpSpPr>
            <a:xfrm>
              <a:off x="2238375" y="742950"/>
              <a:ext cx="1800300" cy="362100"/>
              <a:chOff x="0" y="0"/>
              <a:chExt cx="1800300" cy="362100"/>
            </a:xfrm>
          </p:grpSpPr>
          <p:sp>
            <p:nvSpPr>
              <p:cNvPr id="486" name="Google Shape;486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直接用自然語言提問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" name="Google Shape;488;p20"/>
            <p:cNvSpPr/>
            <p:nvPr/>
          </p:nvSpPr>
          <p:spPr>
            <a:xfrm>
              <a:off x="3143250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3114675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20"/>
            <p:cNvGrpSpPr/>
            <p:nvPr/>
          </p:nvGrpSpPr>
          <p:grpSpPr>
            <a:xfrm>
              <a:off x="2238375" y="1247775"/>
              <a:ext cx="1800300" cy="866700"/>
              <a:chOff x="0" y="0"/>
              <a:chExt cx="1800300" cy="866700"/>
            </a:xfrm>
          </p:grpSpPr>
          <p:sp>
            <p:nvSpPr>
              <p:cNvPr id="491" name="Google Shape;491;p20"/>
              <p:cNvSpPr/>
              <p:nvPr/>
            </p:nvSpPr>
            <p:spPr>
              <a:xfrm>
                <a:off x="0" y="0"/>
                <a:ext cx="1800300" cy="866700"/>
              </a:xfrm>
              <a:prstGeom prst="roundRect">
                <a:avLst>
                  <a:gd fmla="val 3296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0"/>
              <p:cNvSpPr txBox="1"/>
              <p:nvPr/>
            </p:nvSpPr>
            <p:spPr>
              <a:xfrm>
                <a:off x="0" y="0"/>
                <a:ext cx="1800300" cy="8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AI 跨平台自動檢索 (70%)</a:t>
                </a:r>
                <a:endParaRPr b="1" sz="833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Cowork 跨 M365 工具搜尋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自動搜尋、比對、關聯化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3" name="Google Shape;493;p20"/>
            <p:cNvSpPr/>
            <p:nvPr/>
          </p:nvSpPr>
          <p:spPr>
            <a:xfrm>
              <a:off x="3143250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3114675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5" name="Google Shape;495;p20"/>
            <p:cNvGrpSpPr/>
            <p:nvPr/>
          </p:nvGrpSpPr>
          <p:grpSpPr>
            <a:xfrm>
              <a:off x="2238375" y="2257425"/>
              <a:ext cx="1800300" cy="362100"/>
              <a:chOff x="0" y="0"/>
              <a:chExt cx="1800300" cy="362100"/>
            </a:xfrm>
          </p:grpSpPr>
          <p:sp>
            <p:nvSpPr>
              <p:cNvPr id="496" name="Google Shape;496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找出相關專案、文件與會議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8" name="Google Shape;498;p20"/>
            <p:cNvSpPr/>
            <p:nvPr/>
          </p:nvSpPr>
          <p:spPr>
            <a:xfrm>
              <a:off x="3143250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3114675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0" name="Google Shape;500;p20"/>
            <p:cNvGrpSpPr/>
            <p:nvPr/>
          </p:nvGrpSpPr>
          <p:grpSpPr>
            <a:xfrm>
              <a:off x="2238375" y="2762250"/>
              <a:ext cx="1800300" cy="362100"/>
              <a:chOff x="0" y="0"/>
              <a:chExt cx="1800300" cy="362100"/>
            </a:xfrm>
          </p:grpSpPr>
          <p:sp>
            <p:nvSpPr>
              <p:cNvPr id="501" name="Google Shape;501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串聯當時完整決策脈絡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3" name="Google Shape;503;p20"/>
            <p:cNvSpPr/>
            <p:nvPr/>
          </p:nvSpPr>
          <p:spPr>
            <a:xfrm>
              <a:off x="3143250" y="3124200"/>
              <a:ext cx="0" cy="180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3114675" y="32575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5" name="Google Shape;505;p20"/>
            <p:cNvGrpSpPr/>
            <p:nvPr/>
          </p:nvGrpSpPr>
          <p:grpSpPr>
            <a:xfrm>
              <a:off x="2238375" y="3352800"/>
              <a:ext cx="1800300" cy="790500"/>
              <a:chOff x="0" y="0"/>
              <a:chExt cx="1800300" cy="790500"/>
            </a:xfrm>
          </p:grpSpPr>
          <p:sp>
            <p:nvSpPr>
              <p:cNvPr id="506" name="Google Shape;506;p20"/>
              <p:cNvSpPr/>
              <p:nvPr/>
            </p:nvSpPr>
            <p:spPr>
              <a:xfrm>
                <a:off x="0" y="0"/>
                <a:ext cx="1800300" cy="790500"/>
              </a:xfrm>
              <a:prstGeom prst="roundRect">
                <a:avLst>
                  <a:gd fmla="val 361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0"/>
              <p:cNvSpPr txBox="1"/>
              <p:nvPr/>
            </p:nvSpPr>
            <p:spPr>
              <a:xfrm>
                <a:off x="0" y="0"/>
                <a:ext cx="1800300" cy="7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專家識別與資訊融合</a:t>
                </a:r>
                <a:endParaRPr b="1" sz="833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自動辨識關鍵人 (Owner/Expert)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自動整合答案並標註來源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" name="Google Shape;508;p20"/>
            <p:cNvSpPr/>
            <p:nvPr/>
          </p:nvSpPr>
          <p:spPr>
            <a:xfrm>
              <a:off x="3143250" y="4143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3114675" y="4219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20"/>
            <p:cNvGrpSpPr/>
            <p:nvPr/>
          </p:nvGrpSpPr>
          <p:grpSpPr>
            <a:xfrm>
              <a:off x="2238375" y="4276725"/>
              <a:ext cx="1800300" cy="362100"/>
              <a:chOff x="0" y="0"/>
              <a:chExt cx="1800300" cy="362100"/>
            </a:xfrm>
          </p:grpSpPr>
          <p:sp>
            <p:nvSpPr>
              <p:cNvPr id="511" name="Google Shape;511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取得組織記憶，直接開始工作</a:t>
                </a:r>
                <a:endParaRPr b="1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Copilot Cowork 將零散知識工作串成閉環，讓資訊「找得到、記得到、追得到、問得到」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285750" y="857250"/>
            <a:ext cx="8572500" cy="266700"/>
          </a:xfrm>
          <a:prstGeom prst="roundRect">
            <a:avLst>
              <a:gd fmla="val 14285" name="adj"/>
            </a:avLst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 txBox="1"/>
          <p:nvPr/>
        </p:nvSpPr>
        <p:spPr>
          <a:xfrm>
            <a:off x="285750" y="857250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Research、Meeting 與 PMO Agent 負責持續產生與更新工作資訊，Knowledge Agent 則將分散資訊轉化為可即時調用的組織知識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21"/>
          <p:cNvGrpSpPr/>
          <p:nvPr/>
        </p:nvGrpSpPr>
        <p:grpSpPr>
          <a:xfrm>
            <a:off x="285750" y="1238250"/>
            <a:ext cx="2667000" cy="1047900"/>
            <a:chOff x="0" y="0"/>
            <a:chExt cx="2667000" cy="1047900"/>
          </a:xfrm>
        </p:grpSpPr>
        <p:sp>
          <p:nvSpPr>
            <p:cNvPr id="524" name="Google Shape;524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🔎 ① Research Agent｜找得到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價值：壓縮大量搜尋、閱讀與整理時間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運作：依研究題目自動搜尋內外部資料、交叉驗證並依指定 framework 產出初稿。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p21"/>
          <p:cNvGrpSpPr/>
          <p:nvPr/>
        </p:nvGrpSpPr>
        <p:grpSpPr>
          <a:xfrm>
            <a:off x="3238500" y="1238250"/>
            <a:ext cx="2667000" cy="1047900"/>
            <a:chOff x="0" y="0"/>
            <a:chExt cx="2667000" cy="1047900"/>
          </a:xfrm>
        </p:grpSpPr>
        <p:sp>
          <p:nvSpPr>
            <p:cNvPr id="527" name="Google Shape;527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🎙 ② Meeting Agent｜記得到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價值：將會議內容轉為結構化可追蹤知識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運作：Transcript / 錄音 → Minutes、Decision、Action、Owner、Deadline → 自動歸檔。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21"/>
          <p:cNvGrpSpPr/>
          <p:nvPr/>
        </p:nvGrpSpPr>
        <p:grpSpPr>
          <a:xfrm>
            <a:off x="6191250" y="1238250"/>
            <a:ext cx="2667000" cy="1047900"/>
            <a:chOff x="0" y="0"/>
            <a:chExt cx="2667000" cy="1047900"/>
          </a:xfrm>
        </p:grpSpPr>
        <p:sp>
          <p:nvSpPr>
            <p:cNvPr id="530" name="Google Shape;530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📍 ③ PMO Agent｜追得到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價值：降低催件與整理進度的行政負擔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運作：讀 project plan → 追 owner → 判斷進度與缺口 → 更新 tracker / management update。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2" name="Google Shape;5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2286000"/>
            <a:ext cx="29718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286000"/>
            <a:ext cx="192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475" y="2286000"/>
            <a:ext cx="2971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1"/>
          <p:cNvSpPr/>
          <p:nvPr/>
        </p:nvSpPr>
        <p:spPr>
          <a:xfrm>
            <a:off x="4533900" y="2533650"/>
            <a:ext cx="76200" cy="762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21"/>
          <p:cNvGrpSpPr/>
          <p:nvPr/>
        </p:nvGrpSpPr>
        <p:grpSpPr>
          <a:xfrm>
            <a:off x="2190750" y="2619375"/>
            <a:ext cx="4762500" cy="571500"/>
            <a:chOff x="0" y="0"/>
            <a:chExt cx="4762500" cy="571500"/>
          </a:xfrm>
        </p:grpSpPr>
        <p:sp>
          <p:nvSpPr>
            <p:cNvPr id="537" name="Google Shape;537;p21"/>
            <p:cNvSpPr/>
            <p:nvPr/>
          </p:nvSpPr>
          <p:spPr>
            <a:xfrm>
              <a:off x="0" y="0"/>
              <a:ext cx="4762500" cy="571500"/>
            </a:xfrm>
            <a:prstGeom prst="roundRect">
              <a:avLst>
                <a:gd fmla="val 10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1"/>
            <p:cNvSpPr txBox="1"/>
            <p:nvPr/>
          </p:nvSpPr>
          <p:spPr>
            <a:xfrm>
              <a:off x="190500" y="76200"/>
              <a:ext cx="4381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ENTERPRISE KNOWLEDGE LAYER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SharePoint / Teams / Email / Project Files / Decisions / Minutes / Deliverables</a:t>
              </a:r>
              <a:endParaRPr b="0" sz="8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21"/>
          <p:cNvSpPr/>
          <p:nvPr/>
        </p:nvSpPr>
        <p:spPr>
          <a:xfrm>
            <a:off x="4572000" y="3190875"/>
            <a:ext cx="0" cy="13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4533900" y="3248025"/>
            <a:ext cx="76200" cy="762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1" name="Google Shape;541;p21"/>
          <p:cNvGrpSpPr/>
          <p:nvPr/>
        </p:nvGrpSpPr>
        <p:grpSpPr>
          <a:xfrm>
            <a:off x="2190750" y="3333750"/>
            <a:ext cx="4762500" cy="714300"/>
            <a:chOff x="0" y="0"/>
            <a:chExt cx="4762500" cy="714300"/>
          </a:xfrm>
        </p:grpSpPr>
        <p:sp>
          <p:nvSpPr>
            <p:cNvPr id="542" name="Google Shape;542;p21"/>
            <p:cNvSpPr/>
            <p:nvPr/>
          </p:nvSpPr>
          <p:spPr>
            <a:xfrm>
              <a:off x="0" y="0"/>
              <a:ext cx="4762500" cy="7143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905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1"/>
            <p:cNvSpPr txBox="1"/>
            <p:nvPr/>
          </p:nvSpPr>
          <p:spPr>
            <a:xfrm>
              <a:off x="190500" y="76200"/>
              <a:ext cx="4381500" cy="5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🧠 ④ Knowledge Agent｜問得到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價值：讓散落資訊真正變成 institutional memory，避免重複找、重複做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運作：跨平台搜尋，直接回答最新結論、歷史脈絡與原始來源。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21"/>
          <p:cNvGrpSpPr/>
          <p:nvPr/>
        </p:nvGrpSpPr>
        <p:grpSpPr>
          <a:xfrm>
            <a:off x="285750" y="4171950"/>
            <a:ext cx="8572500" cy="533400"/>
            <a:chOff x="0" y="0"/>
            <a:chExt cx="8572500" cy="533400"/>
          </a:xfrm>
        </p:grpSpPr>
        <p:sp>
          <p:nvSpPr>
            <p:cNvPr id="545" name="Google Shape;545;p21"/>
            <p:cNvSpPr/>
            <p:nvPr/>
          </p:nvSpPr>
          <p:spPr>
            <a:xfrm>
              <a:off x="0" y="0"/>
              <a:ext cx="8572500" cy="533400"/>
            </a:xfrm>
            <a:prstGeom prst="roundRect">
              <a:avLst>
                <a:gd fmla="val 7142" name="adj"/>
              </a:avLst>
            </a:pr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6" name="Google Shape;546;p21"/>
            <p:cNvCxnSpPr/>
            <p:nvPr/>
          </p:nvCxnSpPr>
          <p:spPr>
            <a:xfrm>
              <a:off x="4286250" y="0"/>
              <a:ext cx="0" cy="5334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D3B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7" name="Google Shape;547;p21"/>
            <p:cNvGrpSpPr/>
            <p:nvPr/>
          </p:nvGrpSpPr>
          <p:grpSpPr>
            <a:xfrm>
              <a:off x="142875" y="76200"/>
              <a:ext cx="3953025" cy="381000"/>
              <a:chOff x="0" y="0"/>
              <a:chExt cx="3953025" cy="381000"/>
            </a:xfrm>
          </p:grpSpPr>
          <p:sp>
            <p:nvSpPr>
              <p:cNvPr id="548" name="Google Shape;548;p21"/>
              <p:cNvSpPr/>
              <p:nvPr/>
            </p:nvSpPr>
            <p:spPr>
              <a:xfrm>
                <a:off x="0" y="0"/>
                <a:ext cx="5238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1"/>
              <p:cNvSpPr txBox="1"/>
              <p:nvPr/>
            </p:nvSpPr>
            <p:spPr>
              <a:xfrm>
                <a:off x="0" y="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</a:t>
                </a:r>
                <a:endParaRPr b="1" sz="8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1"/>
              <p:cNvSpPr txBox="1"/>
              <p:nvPr/>
            </p:nvSpPr>
            <p:spPr>
              <a:xfrm>
                <a:off x="6191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Research、Meeting、PMO 各自產生大量資訊，但最終散落在人、Email、Teams 與資料夾中。</a:t>
                </a:r>
                <a:endParaRPr b="0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1" name="Google Shape;551;p21"/>
            <p:cNvGrpSpPr/>
            <p:nvPr/>
          </p:nvGrpSpPr>
          <p:grpSpPr>
            <a:xfrm>
              <a:off x="4429125" y="76200"/>
              <a:ext cx="3953025" cy="381000"/>
              <a:chOff x="0" y="0"/>
              <a:chExt cx="3953025" cy="381000"/>
            </a:xfrm>
          </p:grpSpPr>
          <p:sp>
            <p:nvSpPr>
              <p:cNvPr id="552" name="Google Shape;552;p21"/>
              <p:cNvSpPr/>
              <p:nvPr/>
            </p:nvSpPr>
            <p:spPr>
              <a:xfrm>
                <a:off x="0" y="0"/>
                <a:ext cx="5238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1"/>
              <p:cNvSpPr txBox="1"/>
              <p:nvPr/>
            </p:nvSpPr>
            <p:spPr>
              <a:xfrm>
                <a:off x="0" y="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</a:t>
                </a:r>
                <a:endParaRPr b="1" sz="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1"/>
              <p:cNvSpPr txBox="1"/>
              <p:nvPr/>
            </p:nvSpPr>
            <p:spPr>
              <a:xfrm>
                <a:off x="6191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每一次研究、會議與專案執行，都自動成為下一次工作的 Context。</a:t>
                </a:r>
                <a:endParaRPr b="0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5" name="Google Shape;555;p21"/>
          <p:cNvSpPr txBox="1"/>
          <p:nvPr/>
        </p:nvSpPr>
        <p:spPr>
          <a:xfrm>
            <a:off x="285750" y="48006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rPr>
              <a:t>從「AI 幫忙完成單點任務」，進一步建立持續累積、可被即時調用的企業知識閉環。</a:t>
            </a:r>
            <a:endParaRPr b="1" sz="1000">
              <a:solidFill>
                <a:srgbClr val="122B4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"/>
          <p:cNvSpPr/>
          <p:nvPr/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0" y="0"/>
            <a:ext cx="9144000" cy="7119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 txBox="1"/>
          <p:nvPr/>
        </p:nvSpPr>
        <p:spPr>
          <a:xfrm>
            <a:off x="0" y="3137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Copilot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3"/>
          <p:cNvSpPr/>
          <p:nvPr/>
        </p:nvSpPr>
        <p:spPr>
          <a:xfrm>
            <a:off x="0" y="0"/>
            <a:ext cx="9144000" cy="7119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